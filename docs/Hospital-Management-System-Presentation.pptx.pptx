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23"/>
  </p:notes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366F10-EAC1-4358-A8DF-1B7AD2228002}" type="datetimeFigureOut">
              <a:rPr lang="en-US" smtClean="0"/>
              <a:t>4/23/2025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85FE3D-B25A-4B6E-BE75-ABE2F3FDCE74}" type="slidenum">
              <a:rPr lang="en-US" smtClean="0"/>
              <a:t>‹#›</a:t>
            </a:fld>
            <a:endParaRPr lang="en-US"/>
          </a:p>
        </p:txBody>
      </p:sp>
    </p:spTree>
    <p:extLst>
      <p:ext uri="{BB962C8B-B14F-4D97-AF65-F5344CB8AC3E}">
        <p14:creationId xmlns:p14="http://schemas.microsoft.com/office/powerpoint/2010/main" val="1572928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4/23/2025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4/23/2025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4/23/2025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4/23/2025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4/23/2025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4/23/2025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4/23/2025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4/23/2025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4/23/2025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4/23/2025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4/23/2025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4/23/2025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fontScale="90000"/>
          </a:bodyPr>
          <a:lstStyle/>
          <a:p>
            <a:r>
              <a:rPr lang="en-US" sz="8000" dirty="0"/>
              <a:t>Hospital</a:t>
            </a:r>
            <a:br>
              <a:rPr lang="en-US" sz="8000" dirty="0"/>
            </a:br>
            <a:r>
              <a:rPr lang="en-US" sz="8000" dirty="0"/>
              <a:t>management</a:t>
            </a:r>
            <a:br>
              <a:rPr lang="en-US" sz="8000" dirty="0"/>
            </a:br>
            <a:r>
              <a:rPr lang="en-US" sz="8000" dirty="0"/>
              <a:t>system</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dirty="0">
                <a:solidFill>
                  <a:schemeClr val="tx1">
                    <a:lumMod val="85000"/>
                    <a:lumOff val="15000"/>
                  </a:schemeClr>
                </a:solidFill>
              </a:rPr>
              <a:t>Vikram. r</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pPr lvl="0"/>
            <a:r>
              <a:rPr lang="en-US" sz="3600" dirty="0"/>
              <a:t>“An ounce of prevention is worth a pound of cure.”</a:t>
            </a:r>
            <a:endParaRPr lang="en-US" sz="3600" i="1" dirty="0">
              <a:solidFill>
                <a:srgbClr val="FFFFFF"/>
              </a:solidFill>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US" dirty="0">
                <a:solidFill>
                  <a:srgbClr val="FFFFFF"/>
                </a:solidFill>
              </a:rPr>
              <a:t>- </a:t>
            </a:r>
            <a:r>
              <a:rPr lang="en-US" dirty="0">
                <a:solidFill>
                  <a:schemeClr val="accent1">
                    <a:lumMod val="75000"/>
                  </a:schemeClr>
                </a:solidFill>
              </a:rPr>
              <a:t>Benjamin Franklin</a:t>
            </a: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2F9DD4-C27C-6891-59DD-7C488B77FB69}"/>
              </a:ext>
            </a:extLst>
          </p:cNvPr>
          <p:cNvSpPr txBox="1"/>
          <p:nvPr/>
        </p:nvSpPr>
        <p:spPr>
          <a:xfrm>
            <a:off x="2598628" y="-72134502"/>
            <a:ext cx="6097554" cy="7848302"/>
          </a:xfrm>
          <a:prstGeom prst="rect">
            <a:avLst/>
          </a:prstGeom>
          <a:noFill/>
        </p:spPr>
        <p:txBody>
          <a:bodyPr wrap="square">
            <a:spAutoFit/>
          </a:bodyPr>
          <a:lstStyle/>
          <a:p>
            <a:r>
              <a:rPr lang="en-US" dirty="0">
                <a:solidFill>
                  <a:srgbClr val="7030A0"/>
                </a:solidFill>
              </a:rPr>
              <a:t>ABSTRACT</a:t>
            </a:r>
          </a:p>
          <a:p>
            <a:endParaRPr lang="en-US" dirty="0"/>
          </a:p>
          <a:p>
            <a:r>
              <a:rPr lang="en-US" dirty="0"/>
              <a:t>The Hospital Management System (HMS) is a comprehensive software solution designed to streamline and enhance the efficiency of hospital operations. This project focuses on addressing challenges such as manual record-keeping errors, inefficient appointment scheduling, and lack of centralized data access by providing an integrated platform for managing administrative and medical workflows.</a:t>
            </a:r>
          </a:p>
          <a:p>
            <a:endParaRPr lang="en-US" dirty="0"/>
          </a:p>
          <a:p>
            <a:r>
              <a:rPr lang="en-US" dirty="0"/>
              <a:t>The system incorporates features like patient registration, appointment scheduling, billing, inventory management, and reporting. A user-friendly interface ensures easy accessibility for patients, staff, and administrators, while a robust backend facilitates secure and seamless data handling. The HMS leverages a modern technology stack, including [mention the specific technologies if applicable, like Python, MySQL, etc.], to ensure scalability, security, and performance.</a:t>
            </a:r>
          </a:p>
          <a:p>
            <a:endParaRPr lang="en-US" dirty="0"/>
          </a:p>
          <a:p>
            <a:r>
              <a:rPr lang="en-US" dirty="0"/>
              <a:t>The implementation of this system is expected to improve the quality of healthcare services by reducing errors, optimizing resource usage, and enhancing communication between departments. Challenges such as initial setup costs and staff training are addressed with strategic planning and implementation. This project demonstrates how digital transformation can revolutionize healthcare delivery, leading to better patient outcomes and operational excellence.</a:t>
            </a:r>
          </a:p>
          <a:p>
            <a:endParaRPr lang="en-US" dirty="0"/>
          </a:p>
        </p:txBody>
      </p:sp>
      <p:sp>
        <p:nvSpPr>
          <p:cNvPr id="6" name="TextBox 5">
            <a:extLst>
              <a:ext uri="{FF2B5EF4-FFF2-40B4-BE49-F238E27FC236}">
                <a16:creationId xmlns:a16="http://schemas.microsoft.com/office/drawing/2014/main" id="{55033DE4-F292-E4C4-1B5A-43CB717840E4}"/>
              </a:ext>
            </a:extLst>
          </p:cNvPr>
          <p:cNvSpPr txBox="1"/>
          <p:nvPr/>
        </p:nvSpPr>
        <p:spPr>
          <a:xfrm>
            <a:off x="294642" y="477520"/>
            <a:ext cx="11826239" cy="5078313"/>
          </a:xfrm>
          <a:prstGeom prst="rect">
            <a:avLst/>
          </a:prstGeom>
          <a:noFill/>
        </p:spPr>
        <p:txBody>
          <a:bodyPr wrap="square" rtlCol="0">
            <a:spAutoFit/>
          </a:bodyPr>
          <a:lstStyle/>
          <a:p>
            <a:r>
              <a:rPr lang="en-US" dirty="0">
                <a:solidFill>
                  <a:srgbClr val="7030A0"/>
                </a:solidFill>
              </a:rPr>
              <a:t>ABSTRACT</a:t>
            </a:r>
          </a:p>
          <a:p>
            <a:endParaRPr lang="en-US" dirty="0"/>
          </a:p>
          <a:p>
            <a:r>
              <a:rPr lang="en-US" dirty="0"/>
              <a:t>The Hospital Management System (HMS) is a comprehensive software solution designed to streamline and enhance the efficiency of hospital operations. This project focuses on addressing challenges such as manual record-keeping errors, inefficient appointment scheduling, and lack of centralized data access by providing an integrated platform for managing administrative and medical workflows.</a:t>
            </a:r>
          </a:p>
          <a:p>
            <a:endParaRPr lang="en-US" dirty="0"/>
          </a:p>
          <a:p>
            <a:r>
              <a:rPr lang="en-US" dirty="0"/>
              <a:t>The system incorporates features like patient registration, appointment scheduling, billing, inventory management, and reporting. A user-friendly interface ensures easy accessibility for patients, staff, and administrators, while a robust backend facilitates secure and seamless data handling. The HMS leverages a modern technology stack, including [mention the specific technologies if applicable, like Python, MySQL, etc.], to ensure scalability, security, and performance.</a:t>
            </a:r>
          </a:p>
          <a:p>
            <a:endParaRPr lang="en-US" dirty="0"/>
          </a:p>
          <a:p>
            <a:r>
              <a:rPr lang="en-US" dirty="0"/>
              <a:t>The implementation of this system is expected to improve the quality of healthcare services by reducing errors, optimizing resource usage, and enhancing communication between departments. Challenges such as initial setup costs and staff training are addressed with strategic planning and implementation. This project demonstrates how digital transformation can revolutionize healthcare delivery, leading to better patient outcomes and operational excellence.</a:t>
            </a:r>
          </a:p>
          <a:p>
            <a:endParaRPr lang="en-US" dirty="0"/>
          </a:p>
        </p:txBody>
      </p:sp>
    </p:spTree>
    <p:extLst>
      <p:ext uri="{BB962C8B-B14F-4D97-AF65-F5344CB8AC3E}">
        <p14:creationId xmlns:p14="http://schemas.microsoft.com/office/powerpoint/2010/main" val="1114971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C804FC-5A3E-B548-73FF-D924C24A4F3C}"/>
              </a:ext>
            </a:extLst>
          </p:cNvPr>
          <p:cNvSpPr txBox="1"/>
          <p:nvPr/>
        </p:nvSpPr>
        <p:spPr>
          <a:xfrm>
            <a:off x="360680" y="1036320"/>
            <a:ext cx="11470640" cy="3970318"/>
          </a:xfrm>
          <a:prstGeom prst="rect">
            <a:avLst/>
          </a:prstGeom>
          <a:noFill/>
        </p:spPr>
        <p:txBody>
          <a:bodyPr wrap="square">
            <a:spAutoFit/>
          </a:bodyPr>
          <a:lstStyle/>
          <a:p>
            <a:r>
              <a:rPr lang="en-US" dirty="0">
                <a:solidFill>
                  <a:srgbClr val="7030A0"/>
                </a:solidFill>
              </a:rPr>
              <a:t>INTRODUCTION</a:t>
            </a:r>
          </a:p>
          <a:p>
            <a:endParaRPr lang="en-US" dirty="0"/>
          </a:p>
          <a:p>
            <a:r>
              <a:rPr lang="en-US" dirty="0"/>
              <a:t>Healthcare facilities often face the challenge of managing complex operations while delivering efficient and quality care to patients. Manual processes in hospitals can lead to errors, inefficiencies, and delays, which compromise patient satisfaction and operational effectiveness. A Hospital Management System (HMS) is a modern software solution designed to address these challenges and revolutionize healthcare management.</a:t>
            </a:r>
          </a:p>
          <a:p>
            <a:r>
              <a:rPr lang="en-US" dirty="0"/>
              <a:t>This project aims to develop an HMS that integrates various hospital functions into a single platform, enabling seamless communication and efficient workflows. By automating processes such as patient registration, appointment scheduling, billing, inventory management, and data analytics, the system minimizes errors, reduces administrative burden, and enhances overall productivity. Additionally, the HMS supports data security and compliance, ensuring sensitive patient information is handled responsibly.</a:t>
            </a:r>
          </a:p>
          <a:p>
            <a:r>
              <a:rPr lang="en-US" dirty="0"/>
              <a:t>The proposed system is intended to bridge the gap between traditional hospital operations and the digital era, providing hospitals with the tools they need to deliver superior care and achieve operational excellence. Through the implementation of this project, we aim to highlight the transformative potential of technology in the healthcare sector.</a:t>
            </a:r>
          </a:p>
        </p:txBody>
      </p:sp>
    </p:spTree>
    <p:extLst>
      <p:ext uri="{BB962C8B-B14F-4D97-AF65-F5344CB8AC3E}">
        <p14:creationId xmlns:p14="http://schemas.microsoft.com/office/powerpoint/2010/main" val="2835669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E1D6E2-5E8F-59E8-7CEA-9078E7E5866E}"/>
              </a:ext>
            </a:extLst>
          </p:cNvPr>
          <p:cNvSpPr txBox="1"/>
          <p:nvPr/>
        </p:nvSpPr>
        <p:spPr>
          <a:xfrm>
            <a:off x="233680" y="172720"/>
            <a:ext cx="11724640" cy="6309420"/>
          </a:xfrm>
          <a:prstGeom prst="rect">
            <a:avLst/>
          </a:prstGeom>
          <a:noFill/>
        </p:spPr>
        <p:txBody>
          <a:bodyPr wrap="square" rtlCol="0">
            <a:spAutoFit/>
          </a:bodyPr>
          <a:lstStyle/>
          <a:p>
            <a:r>
              <a:rPr lang="en-US" sz="1600" dirty="0">
                <a:solidFill>
                  <a:srgbClr val="7030A0"/>
                </a:solidFill>
              </a:rPr>
              <a:t>PROJECT OVERVIEW</a:t>
            </a:r>
          </a:p>
          <a:p>
            <a:endParaRPr lang="en-US" sz="1600" dirty="0"/>
          </a:p>
          <a:p>
            <a:r>
              <a:rPr lang="en-US" sz="1600" dirty="0"/>
              <a:t>The Hospital Management System (HMS) is a comprehensive and integrated software solution designed to streamline hospital operations and improve healthcare delivery. This project focuses on automating core hospital functions, including patient registration, appointment scheduling, billing, inventory management, and data reporting.</a:t>
            </a:r>
          </a:p>
          <a:p>
            <a:endParaRPr lang="en-US" sz="1600" dirty="0"/>
          </a:p>
          <a:p>
            <a:r>
              <a:rPr lang="en-US" sz="1600" dirty="0"/>
              <a:t>Key Features:</a:t>
            </a:r>
          </a:p>
          <a:p>
            <a:r>
              <a:rPr lang="en-US" sz="1600" dirty="0"/>
              <a:t>- Centralized database for patient records and hospital data.</a:t>
            </a:r>
          </a:p>
          <a:p>
            <a:r>
              <a:rPr lang="en-US" sz="1600" dirty="0"/>
              <a:t>- User-friendly interface for patients, staff, and administrators.</a:t>
            </a:r>
          </a:p>
          <a:p>
            <a:r>
              <a:rPr lang="en-US" sz="1600" dirty="0"/>
              <a:t>- Automation of administrative tasks to enhance efficiency.</a:t>
            </a:r>
          </a:p>
          <a:p>
            <a:r>
              <a:rPr lang="en-US" sz="1600" dirty="0"/>
              <a:t>- Real-time reporting and analytics for informed decision-making.</a:t>
            </a:r>
          </a:p>
          <a:p>
            <a:endParaRPr lang="en-US" sz="1600" dirty="0"/>
          </a:p>
          <a:p>
            <a:r>
              <a:rPr lang="en-US" sz="1600" dirty="0"/>
              <a:t>Technology Stack:</a:t>
            </a:r>
          </a:p>
          <a:p>
            <a:r>
              <a:rPr lang="en-US" sz="1600" dirty="0"/>
              <a:t>The system utilizes modern technologies such as [mention technologies, e.g., Python, MySQL, Django, etc.], ensuring scalability, security, and reliability.</a:t>
            </a:r>
          </a:p>
          <a:p>
            <a:endParaRPr lang="en-US" sz="1600" dirty="0"/>
          </a:p>
          <a:p>
            <a:r>
              <a:rPr lang="en-US" sz="1600" dirty="0"/>
              <a:t>Expected Outcomes:</a:t>
            </a:r>
          </a:p>
          <a:p>
            <a:r>
              <a:rPr lang="en-US" sz="1600" dirty="0"/>
              <a:t>- Increased operational efficiency by minimizing manual errors.</a:t>
            </a:r>
          </a:p>
          <a:p>
            <a:r>
              <a:rPr lang="en-US" sz="1600" dirty="0"/>
              <a:t>- Enhanced patient experience through faster and more reliable services.</a:t>
            </a:r>
          </a:p>
          <a:p>
            <a:r>
              <a:rPr lang="en-US" sz="1600" dirty="0"/>
              <a:t>- Improved resource management and hospital workflows.</a:t>
            </a:r>
          </a:p>
          <a:p>
            <a:endParaRPr lang="en-US" sz="1600" dirty="0"/>
          </a:p>
          <a:p>
            <a:r>
              <a:rPr lang="en-US" sz="1600" dirty="0"/>
              <a:t>This project serves as a foundation for digital transformation in the healthcare sector, emphasizing the role of technology in delivering high-quality patient care and efficient hospital management.</a:t>
            </a:r>
          </a:p>
          <a:p>
            <a:endParaRPr lang="en-US" dirty="0"/>
          </a:p>
          <a:p>
            <a:endParaRPr lang="en-US" dirty="0"/>
          </a:p>
        </p:txBody>
      </p:sp>
    </p:spTree>
    <p:extLst>
      <p:ext uri="{BB962C8B-B14F-4D97-AF65-F5344CB8AC3E}">
        <p14:creationId xmlns:p14="http://schemas.microsoft.com/office/powerpoint/2010/main" val="119522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098E45-6BF3-45DC-1DD7-1BD7B5DD0A41}"/>
              </a:ext>
            </a:extLst>
          </p:cNvPr>
          <p:cNvSpPr txBox="1"/>
          <p:nvPr/>
        </p:nvSpPr>
        <p:spPr>
          <a:xfrm>
            <a:off x="375920" y="264160"/>
            <a:ext cx="11450320" cy="6617196"/>
          </a:xfrm>
          <a:prstGeom prst="rect">
            <a:avLst/>
          </a:prstGeom>
          <a:noFill/>
        </p:spPr>
        <p:txBody>
          <a:bodyPr wrap="square" rtlCol="0">
            <a:spAutoFit/>
          </a:bodyPr>
          <a:lstStyle/>
          <a:p>
            <a:r>
              <a:rPr lang="en-US" sz="1400" dirty="0">
                <a:solidFill>
                  <a:srgbClr val="7030A0"/>
                </a:solidFill>
              </a:rPr>
              <a:t>SYSTEM CONFIGURATION</a:t>
            </a:r>
          </a:p>
          <a:p>
            <a:endParaRPr lang="en-US" sz="1400" dirty="0"/>
          </a:p>
          <a:p>
            <a:r>
              <a:rPr lang="en-US" sz="1400" dirty="0"/>
              <a:t>1. Hardware Requirements:</a:t>
            </a:r>
          </a:p>
          <a:p>
            <a:r>
              <a:rPr lang="en-US" sz="1400" dirty="0"/>
              <a:t>   Processor: Intel Core i5 or higher (or equivalent).</a:t>
            </a:r>
          </a:p>
          <a:p>
            <a:r>
              <a:rPr lang="en-US" sz="1400" dirty="0"/>
              <a:t>   RAM: Minimum 8 GB.</a:t>
            </a:r>
          </a:p>
          <a:p>
            <a:r>
              <a:rPr lang="en-US" sz="1400" dirty="0"/>
              <a:t>   Storage: Minimum 500 GB HDD or SSD (expandable as needed).</a:t>
            </a:r>
          </a:p>
          <a:p>
            <a:r>
              <a:rPr lang="en-US" sz="1400" dirty="0"/>
              <a:t>   Network: High-speed internet connection (for cloud-based systems).</a:t>
            </a:r>
          </a:p>
          <a:p>
            <a:r>
              <a:rPr lang="en-US" sz="1400" dirty="0"/>
              <a:t>   Peripheral Devices: Barcode scanner (for inventory), printers (for reports), etc.</a:t>
            </a:r>
          </a:p>
          <a:p>
            <a:endParaRPr lang="en-US" sz="1400" dirty="0"/>
          </a:p>
          <a:p>
            <a:r>
              <a:rPr lang="en-US" sz="1400" dirty="0"/>
              <a:t>2.Software Requirements:</a:t>
            </a:r>
          </a:p>
          <a:p>
            <a:r>
              <a:rPr lang="en-US" sz="1400" dirty="0"/>
              <a:t>   Operating System: Windows/Linux/MacOS (depending on the environment).</a:t>
            </a:r>
          </a:p>
          <a:p>
            <a:r>
              <a:rPr lang="en-US" sz="1400" dirty="0"/>
              <a:t>   Database: MySQL, PostgreSQL, or MongoDB (for robust data storage and management).</a:t>
            </a:r>
          </a:p>
          <a:p>
            <a:r>
              <a:rPr lang="en-US" sz="1400" dirty="0"/>
              <a:t>   Backend Frameworks: Python with Django/Flask, Java with Spring, or PHP with Laravel.</a:t>
            </a:r>
          </a:p>
          <a:p>
            <a:r>
              <a:rPr lang="en-US" sz="1400" dirty="0"/>
              <a:t>   Frontend Technologies: HTML5, CSS3, JavaScript, and libraries/frameworks like React.js or Angular.</a:t>
            </a:r>
          </a:p>
          <a:p>
            <a:r>
              <a:rPr lang="en-US" sz="1400" dirty="0"/>
              <a:t>   Security Software: Tools for data encryption, antivirus, and firewall protection.</a:t>
            </a:r>
          </a:p>
          <a:p>
            <a:endParaRPr lang="en-US" sz="1400" dirty="0"/>
          </a:p>
          <a:p>
            <a:r>
              <a:rPr lang="en-US" sz="1400" dirty="0"/>
              <a:t>3. Cloud Integration (optional):</a:t>
            </a:r>
          </a:p>
          <a:p>
            <a:r>
              <a:rPr lang="en-US" sz="1400" dirty="0"/>
              <a:t>   - Cloud service provider (AWS, Azure, or Google Cloud) for scalability.</a:t>
            </a:r>
          </a:p>
          <a:p>
            <a:r>
              <a:rPr lang="en-US" sz="1400" dirty="0"/>
              <a:t>   - Features like virtual machines, cloud storage, and backup systems.</a:t>
            </a:r>
          </a:p>
          <a:p>
            <a:endParaRPr lang="en-US" sz="1400" dirty="0"/>
          </a:p>
          <a:p>
            <a:r>
              <a:rPr lang="en-US" sz="1400" dirty="0"/>
              <a:t>4. Network Configuration:</a:t>
            </a:r>
          </a:p>
          <a:p>
            <a:r>
              <a:rPr lang="en-US" sz="1400" dirty="0"/>
              <a:t>   Local Network: For in-hospital operations (LAN setup).</a:t>
            </a:r>
          </a:p>
          <a:p>
            <a:r>
              <a:rPr lang="en-US" sz="1400" dirty="0"/>
              <a:t>   Internet Connectivity: Secure VPN for remote access (if needed).</a:t>
            </a:r>
          </a:p>
          <a:p>
            <a:endParaRPr lang="en-US" sz="1400" dirty="0"/>
          </a:p>
          <a:p>
            <a:r>
              <a:rPr lang="en-US" sz="1400" dirty="0"/>
              <a:t>5. Other Considerations:</a:t>
            </a:r>
          </a:p>
          <a:p>
            <a:r>
              <a:rPr lang="en-US" sz="1400" dirty="0"/>
              <a:t>   Data Security: Implement SSL encryption and two-factor authentication.</a:t>
            </a:r>
          </a:p>
          <a:p>
            <a:r>
              <a:rPr lang="en-US" sz="1400" dirty="0"/>
              <a:t>   Backup System: Daily or weekly backups for data recovery.</a:t>
            </a:r>
          </a:p>
          <a:p>
            <a:r>
              <a:rPr lang="en-US" sz="1400" dirty="0"/>
              <a:t>   User Access Levels: Admin, staff, and patient roles with restricted permissions.</a:t>
            </a:r>
          </a:p>
          <a:p>
            <a:endParaRPr lang="en-US" sz="1400" dirty="0"/>
          </a:p>
          <a:p>
            <a:endParaRPr lang="en-US" dirty="0"/>
          </a:p>
        </p:txBody>
      </p:sp>
    </p:spTree>
    <p:extLst>
      <p:ext uri="{BB962C8B-B14F-4D97-AF65-F5344CB8AC3E}">
        <p14:creationId xmlns:p14="http://schemas.microsoft.com/office/powerpoint/2010/main" val="2090779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0AC430-F075-CB8E-7746-2671DBEB76D3}"/>
              </a:ext>
            </a:extLst>
          </p:cNvPr>
          <p:cNvSpPr txBox="1"/>
          <p:nvPr/>
        </p:nvSpPr>
        <p:spPr>
          <a:xfrm>
            <a:off x="375920" y="191254"/>
            <a:ext cx="11440160" cy="5755422"/>
          </a:xfrm>
          <a:prstGeom prst="rect">
            <a:avLst/>
          </a:prstGeom>
          <a:noFill/>
        </p:spPr>
        <p:txBody>
          <a:bodyPr wrap="square" rtlCol="0">
            <a:spAutoFit/>
          </a:bodyPr>
          <a:lstStyle/>
          <a:p>
            <a:r>
              <a:rPr lang="en-US" sz="1600" dirty="0">
                <a:solidFill>
                  <a:srgbClr val="7030A0"/>
                </a:solidFill>
              </a:rPr>
              <a:t>LITERATURE REVIEW</a:t>
            </a:r>
          </a:p>
          <a:p>
            <a:endParaRPr lang="en-US" sz="1600" dirty="0"/>
          </a:p>
          <a:p>
            <a:r>
              <a:rPr lang="en-US" sz="1600" dirty="0"/>
              <a:t>Hospital Management Systems (HMS) have been extensively studied and developed to address the challenges faced by healthcare facilities in managing operations efficiently. Research highlights the importance of integrating technology into hospital workflows to reduce errors, improve patient care, and optimize resource utilization.</a:t>
            </a:r>
          </a:p>
          <a:p>
            <a:endParaRPr lang="en-US" sz="1600" dirty="0"/>
          </a:p>
          <a:p>
            <a:r>
              <a:rPr lang="en-US" sz="1600" dirty="0"/>
              <a:t>1. Evolution of HMS:</a:t>
            </a:r>
          </a:p>
          <a:p>
            <a:r>
              <a:rPr lang="en-US" sz="1600" dirty="0"/>
              <a:t>   - Early systems focused on basic record-keeping and billing functionalities.</a:t>
            </a:r>
          </a:p>
          <a:p>
            <a:r>
              <a:rPr lang="en-US" sz="1600" dirty="0"/>
              <a:t>   - Modern HMS incorporates advanced features like real-time data analytics, inventory management, and patient tracking.</a:t>
            </a:r>
          </a:p>
          <a:p>
            <a:endParaRPr lang="en-US" sz="1600" dirty="0"/>
          </a:p>
          <a:p>
            <a:r>
              <a:rPr lang="en-US" sz="1600" dirty="0"/>
              <a:t>2. Key Studies:</a:t>
            </a:r>
          </a:p>
          <a:p>
            <a:r>
              <a:rPr lang="en-US" sz="1600" dirty="0"/>
              <a:t>   - A study on RFID-based systems demonstrated improved operational efficiency and reduced wait times by enabling real-time tracking of hospital assets and personnel.</a:t>
            </a:r>
          </a:p>
          <a:p>
            <a:r>
              <a:rPr lang="en-US" sz="1600" dirty="0"/>
              <a:t>   - Research on cloud-based HMS emphasized scalability and accessibility, allowing hospitals to manage data securely and remotely.</a:t>
            </a:r>
          </a:p>
          <a:p>
            <a:endParaRPr lang="en-US" sz="1600" dirty="0"/>
          </a:p>
          <a:p>
            <a:r>
              <a:rPr lang="en-US" sz="1600" dirty="0"/>
              <a:t>3. Challenges Identified:</a:t>
            </a:r>
          </a:p>
          <a:p>
            <a:r>
              <a:rPr lang="en-US" sz="1600" dirty="0"/>
              <a:t>   - Initial implementation costs and staff training requirements.</a:t>
            </a:r>
          </a:p>
          <a:p>
            <a:r>
              <a:rPr lang="en-US" sz="1600" dirty="0"/>
              <a:t>   - Ensuring data security and compliance with healthcare regulations.</a:t>
            </a:r>
          </a:p>
          <a:p>
            <a:endParaRPr lang="en-US" sz="1600" dirty="0"/>
          </a:p>
          <a:p>
            <a:r>
              <a:rPr lang="en-US" sz="1600" dirty="0"/>
              <a:t>4. Future Trends:</a:t>
            </a:r>
          </a:p>
          <a:p>
            <a:r>
              <a:rPr lang="en-US" sz="1600" dirty="0"/>
              <a:t>   - Integration of artificial intelligence for predictive analytics and decision-making.</a:t>
            </a:r>
          </a:p>
          <a:p>
            <a:r>
              <a:rPr lang="en-US" sz="1600" dirty="0"/>
              <a:t>   - Enhanced patient engagement through mobile applications and telemedicine.</a:t>
            </a:r>
          </a:p>
        </p:txBody>
      </p:sp>
    </p:spTree>
    <p:extLst>
      <p:ext uri="{BB962C8B-B14F-4D97-AF65-F5344CB8AC3E}">
        <p14:creationId xmlns:p14="http://schemas.microsoft.com/office/powerpoint/2010/main" val="4063342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38C190-E568-2ED5-6A71-A831AD7A97B6}"/>
              </a:ext>
            </a:extLst>
          </p:cNvPr>
          <p:cNvSpPr txBox="1"/>
          <p:nvPr/>
        </p:nvSpPr>
        <p:spPr>
          <a:xfrm>
            <a:off x="193040" y="213360"/>
            <a:ext cx="11673840" cy="6294031"/>
          </a:xfrm>
          <a:prstGeom prst="rect">
            <a:avLst/>
          </a:prstGeom>
          <a:noFill/>
        </p:spPr>
        <p:txBody>
          <a:bodyPr wrap="square" rtlCol="0">
            <a:spAutoFit/>
          </a:bodyPr>
          <a:lstStyle/>
          <a:p>
            <a:r>
              <a:rPr lang="en-US" sz="1100" dirty="0">
                <a:solidFill>
                  <a:srgbClr val="7030A0"/>
                </a:solidFill>
              </a:rPr>
              <a:t>EXISTING METHODOLOGY</a:t>
            </a:r>
          </a:p>
          <a:p>
            <a:endParaRPr lang="en-US" sz="1100" dirty="0"/>
          </a:p>
          <a:p>
            <a:r>
              <a:rPr lang="en-US" sz="1100" dirty="0"/>
              <a:t>1. Manual Systems:</a:t>
            </a:r>
          </a:p>
          <a:p>
            <a:r>
              <a:rPr lang="en-US" sz="1100" dirty="0"/>
              <a:t>   - Hospitals traditionally relied on manual record-keeping methods, where patient data, appointments, billing, and other hospital operations were maintained on paper.</a:t>
            </a:r>
          </a:p>
          <a:p>
            <a:r>
              <a:rPr lang="en-US" sz="1100" dirty="0"/>
              <a:t>   - Challenges: High chances of errors, inefficiency, and delays in retrieving or updating records.</a:t>
            </a:r>
          </a:p>
          <a:p>
            <a:endParaRPr lang="en-US" sz="1100" dirty="0"/>
          </a:p>
          <a:p>
            <a:r>
              <a:rPr lang="en-US" sz="1100" dirty="0"/>
              <a:t>2. Standalone Software Solutions:</a:t>
            </a:r>
          </a:p>
          <a:p>
            <a:r>
              <a:rPr lang="en-US" sz="1100" dirty="0"/>
              <a:t>   - Initial attempts to digitalize hospital workflows included standalone software for individual functions such as billing, inventory, or patient record management.</a:t>
            </a:r>
          </a:p>
          <a:p>
            <a:r>
              <a:rPr lang="en-US" sz="1100" dirty="0"/>
              <a:t>   - Challenges: Lack of integration between systems, leading to data silos and inefficiencies.</a:t>
            </a:r>
          </a:p>
          <a:p>
            <a:endParaRPr lang="en-US" sz="1100" dirty="0"/>
          </a:p>
          <a:p>
            <a:r>
              <a:rPr lang="en-US" sz="1100" dirty="0"/>
              <a:t>3. Integrated Hospital Management Systems:</a:t>
            </a:r>
          </a:p>
          <a:p>
            <a:r>
              <a:rPr lang="en-US" sz="1100" dirty="0"/>
              <a:t>   - Modern HMS incorporates various modules (e.g., patient registration, appointments, billing, and inventory) into a single, unified platform.</a:t>
            </a:r>
          </a:p>
          <a:p>
            <a:r>
              <a:rPr lang="en-US" sz="1100" dirty="0"/>
              <a:t>   - Features:</a:t>
            </a:r>
          </a:p>
          <a:p>
            <a:r>
              <a:rPr lang="en-US" sz="1100" dirty="0"/>
              <a:t>     - Centralized database for real-time access to data.</a:t>
            </a:r>
          </a:p>
          <a:p>
            <a:r>
              <a:rPr lang="en-US" sz="1100" dirty="0"/>
              <a:t>     - Role-based access for administrators, doctors, nurses, and patients.</a:t>
            </a:r>
          </a:p>
          <a:p>
            <a:r>
              <a:rPr lang="en-US" sz="1100" dirty="0"/>
              <a:t>   - Benefits: Improved operational efficiency, streamlined workflows, and enhanced patient satisfaction.</a:t>
            </a:r>
          </a:p>
          <a:p>
            <a:endParaRPr lang="en-US" sz="1100" dirty="0"/>
          </a:p>
          <a:p>
            <a:r>
              <a:rPr lang="en-US" sz="1100" dirty="0"/>
              <a:t>4. Cloud-Based Solutions:</a:t>
            </a:r>
          </a:p>
          <a:p>
            <a:r>
              <a:rPr lang="en-US" sz="1100" dirty="0"/>
              <a:t>   - Recent advancements include cloud-hosted HMS that allow data storage, access, and management on remote servers.</a:t>
            </a:r>
          </a:p>
          <a:p>
            <a:r>
              <a:rPr lang="en-US" sz="1100" dirty="0"/>
              <a:t>   - Advantages:</a:t>
            </a:r>
          </a:p>
          <a:p>
            <a:r>
              <a:rPr lang="en-US" sz="1100" dirty="0"/>
              <a:t>     - Accessibility from any location.</a:t>
            </a:r>
          </a:p>
          <a:p>
            <a:r>
              <a:rPr lang="en-US" sz="1100" dirty="0"/>
              <a:t>     - Scalability and reliability.</a:t>
            </a:r>
          </a:p>
          <a:p>
            <a:r>
              <a:rPr lang="en-US" sz="1100" dirty="0"/>
              <a:t>     - Enhanced security with backup and recovery features.</a:t>
            </a:r>
          </a:p>
          <a:p>
            <a:endParaRPr lang="en-US" sz="1100" dirty="0"/>
          </a:p>
          <a:p>
            <a:r>
              <a:rPr lang="en-US" sz="1100" dirty="0"/>
              <a:t>5. Integration of Advanced Technologies:</a:t>
            </a:r>
          </a:p>
          <a:p>
            <a:r>
              <a:rPr lang="en-US" sz="1100" dirty="0"/>
              <a:t>   - Artificial Intelligence (AI): Predictive analytics for decision-making and patient diagnostics.</a:t>
            </a:r>
          </a:p>
          <a:p>
            <a:r>
              <a:rPr lang="en-US" sz="1100" dirty="0"/>
              <a:t>   - Internet of Things (IoT): Real-time tracking of medical equipment and patient vitals.</a:t>
            </a:r>
          </a:p>
          <a:p>
            <a:r>
              <a:rPr lang="en-US" sz="1100" dirty="0"/>
              <a:t>   - Telemedicine: Remote consultations and digital prescriptions.</a:t>
            </a:r>
          </a:p>
          <a:p>
            <a:endParaRPr lang="en-US" sz="1100" dirty="0"/>
          </a:p>
          <a:p>
            <a:r>
              <a:rPr lang="en-US" sz="1100" dirty="0"/>
              <a:t>6. Challenges in Existing Methodology:</a:t>
            </a:r>
          </a:p>
          <a:p>
            <a:r>
              <a:rPr lang="en-US" sz="1100" dirty="0"/>
              <a:t>   - High implementation and maintenance costs.</a:t>
            </a:r>
          </a:p>
          <a:p>
            <a:r>
              <a:rPr lang="en-US" sz="1100" dirty="0"/>
              <a:t>   - Resistance to change from manual to automated systems.</a:t>
            </a:r>
          </a:p>
          <a:p>
            <a:r>
              <a:rPr lang="en-US" sz="1100" dirty="0"/>
              <a:t>   - Staff training requirements.</a:t>
            </a:r>
          </a:p>
          <a:p>
            <a:r>
              <a:rPr lang="en-US" sz="1100" dirty="0"/>
              <a:t>   - Ensuring data security and compliance with healthcare regulations.</a:t>
            </a:r>
          </a:p>
          <a:p>
            <a:endParaRPr lang="en-US" sz="1100" dirty="0"/>
          </a:p>
          <a:p>
            <a:endParaRPr lang="en-US" dirty="0"/>
          </a:p>
        </p:txBody>
      </p:sp>
    </p:spTree>
    <p:extLst>
      <p:ext uri="{BB962C8B-B14F-4D97-AF65-F5344CB8AC3E}">
        <p14:creationId xmlns:p14="http://schemas.microsoft.com/office/powerpoint/2010/main" val="2249368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28970F-174B-9C17-50E6-F97813F36461}"/>
              </a:ext>
            </a:extLst>
          </p:cNvPr>
          <p:cNvSpPr txBox="1"/>
          <p:nvPr/>
        </p:nvSpPr>
        <p:spPr>
          <a:xfrm>
            <a:off x="182880" y="335280"/>
            <a:ext cx="11744960" cy="6186309"/>
          </a:xfrm>
          <a:prstGeom prst="rect">
            <a:avLst/>
          </a:prstGeom>
          <a:noFill/>
        </p:spPr>
        <p:txBody>
          <a:bodyPr wrap="square" rtlCol="0">
            <a:spAutoFit/>
          </a:bodyPr>
          <a:lstStyle/>
          <a:p>
            <a:r>
              <a:rPr lang="en-US" sz="900" dirty="0">
                <a:solidFill>
                  <a:srgbClr val="7030A0"/>
                </a:solidFill>
              </a:rPr>
              <a:t>PROPOSED METHODOLOGY</a:t>
            </a:r>
          </a:p>
          <a:p>
            <a:endParaRPr lang="en-US" sz="900" dirty="0"/>
          </a:p>
          <a:p>
            <a:r>
              <a:rPr lang="en-US" sz="900" dirty="0"/>
              <a:t>1. Requirement Analysis:</a:t>
            </a:r>
          </a:p>
          <a:p>
            <a:r>
              <a:rPr lang="en-US" sz="900" dirty="0"/>
              <a:t>   - Gather requirements from stakeholders, including hospital administrators, medical staff, and patients.</a:t>
            </a:r>
          </a:p>
          <a:p>
            <a:r>
              <a:rPr lang="en-US" sz="900" dirty="0"/>
              <a:t>   - Identify key pain points and functionalities to be included in the system, such as patient records, billing, appointment scheduling, and inventory management.</a:t>
            </a:r>
          </a:p>
          <a:p>
            <a:endParaRPr lang="en-US" sz="900" dirty="0"/>
          </a:p>
          <a:p>
            <a:r>
              <a:rPr lang="en-US" sz="900" dirty="0"/>
              <a:t>2. System Design:</a:t>
            </a:r>
          </a:p>
          <a:p>
            <a:r>
              <a:rPr lang="en-US" sz="900" dirty="0"/>
              <a:t>   - Develop a system architecture that includes:</a:t>
            </a:r>
          </a:p>
          <a:p>
            <a:r>
              <a:rPr lang="en-US" sz="900" dirty="0"/>
              <a:t>     - A centralized database for secure and efficient data storage.</a:t>
            </a:r>
          </a:p>
          <a:p>
            <a:r>
              <a:rPr lang="en-US" sz="900" dirty="0"/>
              <a:t>     - Modular design for separate functionalities (e.g., registration, billing, reporting).</a:t>
            </a:r>
          </a:p>
          <a:p>
            <a:r>
              <a:rPr lang="en-US" sz="900" dirty="0"/>
              <a:t>   - Create data flow diagrams to map interactions between components.</a:t>
            </a:r>
          </a:p>
          <a:p>
            <a:endParaRPr lang="en-US" sz="900" dirty="0"/>
          </a:p>
          <a:p>
            <a:r>
              <a:rPr lang="en-US" sz="900" dirty="0"/>
              <a:t>3. Technology Stack Selection:</a:t>
            </a:r>
          </a:p>
          <a:p>
            <a:r>
              <a:rPr lang="en-US" sz="900" dirty="0"/>
              <a:t>   - Choose a robust backend framework (e.g., Django for Python, Spring for Java).</a:t>
            </a:r>
          </a:p>
          <a:p>
            <a:r>
              <a:rPr lang="en-US" sz="900" dirty="0"/>
              <a:t>   - Select an appropriate database (e.g., MySQL, PostgreSQL) for managing hospital data.</a:t>
            </a:r>
          </a:p>
          <a:p>
            <a:r>
              <a:rPr lang="en-US" sz="900" dirty="0"/>
              <a:t>   - Use modern frontend technologies (e.g., React.js or Angular) for an intuitive user interface.</a:t>
            </a:r>
          </a:p>
          <a:p>
            <a:endParaRPr lang="en-US" sz="900" dirty="0"/>
          </a:p>
          <a:p>
            <a:r>
              <a:rPr lang="en-US" sz="900" dirty="0"/>
              <a:t>4. Development and Implementation:</a:t>
            </a:r>
          </a:p>
          <a:p>
            <a:r>
              <a:rPr lang="en-US" sz="900" dirty="0"/>
              <a:t>   - Frontend Development:</a:t>
            </a:r>
          </a:p>
          <a:p>
            <a:r>
              <a:rPr lang="en-US" sz="900" dirty="0"/>
              <a:t>     - Build responsive and user-friendly interfaces for patients, staff, and administrators.</a:t>
            </a:r>
          </a:p>
          <a:p>
            <a:r>
              <a:rPr lang="en-US" sz="900" dirty="0"/>
              <a:t>   - Backend Development:</a:t>
            </a:r>
          </a:p>
          <a:p>
            <a:r>
              <a:rPr lang="en-US" sz="900" dirty="0"/>
              <a:t>     - Implement business logic for features like appointment scheduling, billing, and reporting.</a:t>
            </a:r>
          </a:p>
          <a:p>
            <a:r>
              <a:rPr lang="en-US" sz="900" dirty="0"/>
              <a:t>     - Integrate APIs for functionalities like SMS notifications or payment gateways.</a:t>
            </a:r>
          </a:p>
          <a:p>
            <a:r>
              <a:rPr lang="en-US" sz="900" dirty="0"/>
              <a:t>    - Database Implementation:</a:t>
            </a:r>
          </a:p>
          <a:p>
            <a:r>
              <a:rPr lang="en-US" sz="900" dirty="0"/>
              <a:t>     - Design and populate the database with sample data for testing.</a:t>
            </a:r>
          </a:p>
          <a:p>
            <a:r>
              <a:rPr lang="en-US" sz="900" dirty="0"/>
              <a:t>     - Ensure data encryption for sensitive information.</a:t>
            </a:r>
          </a:p>
          <a:p>
            <a:endParaRPr lang="en-US" sz="900" dirty="0"/>
          </a:p>
          <a:p>
            <a:r>
              <a:rPr lang="en-US" sz="900" dirty="0"/>
              <a:t>5. Testing:</a:t>
            </a:r>
          </a:p>
          <a:p>
            <a:r>
              <a:rPr lang="en-US" sz="900" dirty="0"/>
              <a:t>   - Perform thorough testing to ensure system reliability and efficiency:</a:t>
            </a:r>
          </a:p>
          <a:p>
            <a:r>
              <a:rPr lang="en-US" sz="900" dirty="0"/>
              <a:t>     - Unit Testing: Test individual components for proper functionality.</a:t>
            </a:r>
          </a:p>
          <a:p>
            <a:r>
              <a:rPr lang="en-US" sz="900" dirty="0"/>
              <a:t>     - Integration Testing: Verify that all modules work seamlessly together.</a:t>
            </a:r>
          </a:p>
          <a:p>
            <a:r>
              <a:rPr lang="en-US" sz="900" dirty="0"/>
              <a:t>     - User Acceptance Testing (UAT): Gather feedback from end users and address issues.</a:t>
            </a:r>
          </a:p>
          <a:p>
            <a:endParaRPr lang="en-US" sz="900" dirty="0"/>
          </a:p>
          <a:p>
            <a:r>
              <a:rPr lang="en-US" sz="900" dirty="0"/>
              <a:t>6. Deployment:</a:t>
            </a:r>
          </a:p>
          <a:p>
            <a:r>
              <a:rPr lang="en-US" sz="900" dirty="0"/>
              <a:t>   - Set up the system on hospital servers or cloud platforms (e.g., AWS, Azure).</a:t>
            </a:r>
          </a:p>
          <a:p>
            <a:r>
              <a:rPr lang="en-US" sz="900" dirty="0"/>
              <a:t>   - Train staff to use the system effectively.</a:t>
            </a:r>
          </a:p>
          <a:p>
            <a:r>
              <a:rPr lang="en-US" sz="900" dirty="0"/>
              <a:t>   - Provide documentation and support during the transition phase.</a:t>
            </a:r>
          </a:p>
          <a:p>
            <a:endParaRPr lang="en-US" sz="900" dirty="0"/>
          </a:p>
          <a:p>
            <a:r>
              <a:rPr lang="en-US" sz="900" dirty="0"/>
              <a:t>7. Maintenance and Updates:</a:t>
            </a:r>
          </a:p>
          <a:p>
            <a:r>
              <a:rPr lang="en-US" sz="900" dirty="0"/>
              <a:t>   - Monitor system performance and address issues as they arise.</a:t>
            </a:r>
          </a:p>
          <a:p>
            <a:r>
              <a:rPr lang="en-US" sz="900" dirty="0"/>
              <a:t>   - Roll out updates for new features or enhancements based on user feedback.</a:t>
            </a:r>
          </a:p>
          <a:p>
            <a:r>
              <a:rPr lang="en-US" sz="900" dirty="0"/>
              <a:t>   - Ensure ongoing compliance with healthcare data protection laws.</a:t>
            </a:r>
          </a:p>
          <a:p>
            <a:endParaRPr lang="en-US" dirty="0"/>
          </a:p>
        </p:txBody>
      </p:sp>
    </p:spTree>
    <p:extLst>
      <p:ext uri="{BB962C8B-B14F-4D97-AF65-F5344CB8AC3E}">
        <p14:creationId xmlns:p14="http://schemas.microsoft.com/office/powerpoint/2010/main" val="2813319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8F7631-DB02-1FA5-457E-D3866D4ACF84}"/>
              </a:ext>
            </a:extLst>
          </p:cNvPr>
          <p:cNvSpPr txBox="1"/>
          <p:nvPr/>
        </p:nvSpPr>
        <p:spPr>
          <a:xfrm>
            <a:off x="243840" y="254000"/>
            <a:ext cx="11704320" cy="6047809"/>
          </a:xfrm>
          <a:prstGeom prst="rect">
            <a:avLst/>
          </a:prstGeom>
          <a:noFill/>
        </p:spPr>
        <p:txBody>
          <a:bodyPr wrap="square" rtlCol="0">
            <a:spAutoFit/>
          </a:bodyPr>
          <a:lstStyle/>
          <a:p>
            <a:r>
              <a:rPr lang="en-US" sz="900" dirty="0">
                <a:solidFill>
                  <a:srgbClr val="7030A0"/>
                </a:solidFill>
              </a:rPr>
              <a:t>SOURCE CODE</a:t>
            </a:r>
          </a:p>
          <a:p>
            <a:endParaRPr lang="en-US" sz="900" dirty="0"/>
          </a:p>
          <a:p>
            <a:r>
              <a:rPr lang="en-US" sz="900" dirty="0"/>
              <a:t>from datetime import datetime</a:t>
            </a:r>
          </a:p>
          <a:p>
            <a:endParaRPr lang="en-US" sz="900" dirty="0"/>
          </a:p>
          <a:p>
            <a:r>
              <a:rPr lang="en-US" sz="900" dirty="0"/>
              <a:t>class Patient:</a:t>
            </a:r>
          </a:p>
          <a:p>
            <a:r>
              <a:rPr lang="en-US" sz="900" dirty="0"/>
              <a:t>    def __</a:t>
            </a:r>
            <a:r>
              <a:rPr lang="en-US" sz="900" dirty="0" err="1"/>
              <a:t>init</a:t>
            </a:r>
            <a:r>
              <a:rPr lang="en-US" sz="900" dirty="0"/>
              <a:t>__(self, </a:t>
            </a:r>
            <a:r>
              <a:rPr lang="en-US" sz="900" dirty="0" err="1"/>
              <a:t>patient_id</a:t>
            </a:r>
            <a:r>
              <a:rPr lang="en-US" sz="900" dirty="0"/>
              <a:t>, name, age, ailment):</a:t>
            </a:r>
          </a:p>
          <a:p>
            <a:r>
              <a:rPr lang="en-US" sz="900" dirty="0"/>
              <a:t>        </a:t>
            </a:r>
            <a:r>
              <a:rPr lang="en-US" sz="900" dirty="0" err="1"/>
              <a:t>self.patient_id</a:t>
            </a:r>
            <a:r>
              <a:rPr lang="en-US" sz="900" dirty="0"/>
              <a:t> = </a:t>
            </a:r>
            <a:r>
              <a:rPr lang="en-US" sz="900" dirty="0" err="1"/>
              <a:t>patient_id</a:t>
            </a:r>
            <a:endParaRPr lang="en-US" sz="900" dirty="0"/>
          </a:p>
          <a:p>
            <a:r>
              <a:rPr lang="en-US" sz="900" dirty="0"/>
              <a:t>        self.name = name</a:t>
            </a:r>
          </a:p>
          <a:p>
            <a:r>
              <a:rPr lang="en-US" sz="900" dirty="0"/>
              <a:t>        </a:t>
            </a:r>
            <a:r>
              <a:rPr lang="en-US" sz="900" dirty="0" err="1"/>
              <a:t>self.age</a:t>
            </a:r>
            <a:r>
              <a:rPr lang="en-US" sz="900" dirty="0"/>
              <a:t> = age</a:t>
            </a:r>
          </a:p>
          <a:p>
            <a:r>
              <a:rPr lang="en-US" sz="900" dirty="0"/>
              <a:t>        </a:t>
            </a:r>
            <a:r>
              <a:rPr lang="en-US" sz="900" dirty="0" err="1"/>
              <a:t>self.ailment</a:t>
            </a:r>
            <a:r>
              <a:rPr lang="en-US" sz="900" dirty="0"/>
              <a:t> = ailment</a:t>
            </a:r>
          </a:p>
          <a:p>
            <a:endParaRPr lang="en-US" sz="900" dirty="0"/>
          </a:p>
          <a:p>
            <a:r>
              <a:rPr lang="en-US" sz="900" dirty="0"/>
              <a:t>class Appointment:</a:t>
            </a:r>
          </a:p>
          <a:p>
            <a:r>
              <a:rPr lang="en-US" sz="900" dirty="0"/>
              <a:t>    def __</a:t>
            </a:r>
            <a:r>
              <a:rPr lang="en-US" sz="900" dirty="0" err="1"/>
              <a:t>init</a:t>
            </a:r>
            <a:r>
              <a:rPr lang="en-US" sz="900" dirty="0"/>
              <a:t>__(self, </a:t>
            </a:r>
            <a:r>
              <a:rPr lang="en-US" sz="900" dirty="0" err="1"/>
              <a:t>appointment_id</a:t>
            </a:r>
            <a:r>
              <a:rPr lang="en-US" sz="900" dirty="0"/>
              <a:t>, </a:t>
            </a:r>
            <a:r>
              <a:rPr lang="en-US" sz="900" dirty="0" err="1"/>
              <a:t>patient_id</a:t>
            </a:r>
            <a:r>
              <a:rPr lang="en-US" sz="900" dirty="0"/>
              <a:t>, </a:t>
            </a:r>
            <a:r>
              <a:rPr lang="en-US" sz="900" dirty="0" err="1"/>
              <a:t>doctor_name</a:t>
            </a:r>
            <a:r>
              <a:rPr lang="en-US" sz="900" dirty="0"/>
              <a:t>, date, time):</a:t>
            </a:r>
          </a:p>
          <a:p>
            <a:r>
              <a:rPr lang="en-US" sz="900" dirty="0"/>
              <a:t>        </a:t>
            </a:r>
            <a:r>
              <a:rPr lang="en-US" sz="900" dirty="0" err="1"/>
              <a:t>self.appointment_id</a:t>
            </a:r>
            <a:r>
              <a:rPr lang="en-US" sz="900" dirty="0"/>
              <a:t> = </a:t>
            </a:r>
            <a:r>
              <a:rPr lang="en-US" sz="900" dirty="0" err="1"/>
              <a:t>appointment_id</a:t>
            </a:r>
            <a:endParaRPr lang="en-US" sz="900" dirty="0"/>
          </a:p>
          <a:p>
            <a:r>
              <a:rPr lang="en-US" sz="900" dirty="0"/>
              <a:t>        </a:t>
            </a:r>
            <a:r>
              <a:rPr lang="en-US" sz="900" dirty="0" err="1"/>
              <a:t>self.patient_id</a:t>
            </a:r>
            <a:r>
              <a:rPr lang="en-US" sz="900" dirty="0"/>
              <a:t> = </a:t>
            </a:r>
            <a:r>
              <a:rPr lang="en-US" sz="900" dirty="0" err="1"/>
              <a:t>patient_id</a:t>
            </a:r>
            <a:endParaRPr lang="en-US" sz="900" dirty="0"/>
          </a:p>
          <a:p>
            <a:r>
              <a:rPr lang="en-US" sz="900" dirty="0"/>
              <a:t>        </a:t>
            </a:r>
            <a:r>
              <a:rPr lang="en-US" sz="900" dirty="0" err="1"/>
              <a:t>self.doctor_name</a:t>
            </a:r>
            <a:r>
              <a:rPr lang="en-US" sz="900" dirty="0"/>
              <a:t> = </a:t>
            </a:r>
            <a:r>
              <a:rPr lang="en-US" sz="900" dirty="0" err="1"/>
              <a:t>doctor_name</a:t>
            </a:r>
            <a:endParaRPr lang="en-US" sz="900" dirty="0"/>
          </a:p>
          <a:p>
            <a:r>
              <a:rPr lang="en-US" sz="900" dirty="0"/>
              <a:t>        </a:t>
            </a:r>
            <a:r>
              <a:rPr lang="en-US" sz="900" dirty="0" err="1"/>
              <a:t>self.date</a:t>
            </a:r>
            <a:r>
              <a:rPr lang="en-US" sz="900" dirty="0"/>
              <a:t> = date</a:t>
            </a:r>
          </a:p>
          <a:p>
            <a:r>
              <a:rPr lang="en-US" sz="900" dirty="0"/>
              <a:t>        </a:t>
            </a:r>
            <a:r>
              <a:rPr lang="en-US" sz="900" dirty="0" err="1"/>
              <a:t>self.time</a:t>
            </a:r>
            <a:r>
              <a:rPr lang="en-US" sz="900" dirty="0"/>
              <a:t> = time</a:t>
            </a:r>
          </a:p>
          <a:p>
            <a:endParaRPr lang="en-US" sz="900" dirty="0"/>
          </a:p>
          <a:p>
            <a:r>
              <a:rPr lang="en-US" sz="900" dirty="0"/>
              <a:t>class Bill:</a:t>
            </a:r>
          </a:p>
          <a:p>
            <a:r>
              <a:rPr lang="en-US" sz="900" dirty="0"/>
              <a:t>    def __</a:t>
            </a:r>
            <a:r>
              <a:rPr lang="en-US" sz="900" dirty="0" err="1"/>
              <a:t>init</a:t>
            </a:r>
            <a:r>
              <a:rPr lang="en-US" sz="900" dirty="0"/>
              <a:t>__(self, </a:t>
            </a:r>
            <a:r>
              <a:rPr lang="en-US" sz="900" dirty="0" err="1"/>
              <a:t>bill_id</a:t>
            </a:r>
            <a:r>
              <a:rPr lang="en-US" sz="900" dirty="0"/>
              <a:t>, </a:t>
            </a:r>
            <a:r>
              <a:rPr lang="en-US" sz="900" dirty="0" err="1"/>
              <a:t>patient_id</a:t>
            </a:r>
            <a:r>
              <a:rPr lang="en-US" sz="900" dirty="0"/>
              <a:t>, services, </a:t>
            </a:r>
            <a:r>
              <a:rPr lang="en-US" sz="900" dirty="0" err="1"/>
              <a:t>total_amount</a:t>
            </a:r>
            <a:r>
              <a:rPr lang="en-US" sz="900" dirty="0"/>
              <a:t>):</a:t>
            </a:r>
          </a:p>
          <a:p>
            <a:r>
              <a:rPr lang="en-US" sz="900" dirty="0"/>
              <a:t>        </a:t>
            </a:r>
            <a:r>
              <a:rPr lang="en-US" sz="900" dirty="0" err="1"/>
              <a:t>self.bill_id</a:t>
            </a:r>
            <a:r>
              <a:rPr lang="en-US" sz="900" dirty="0"/>
              <a:t> = </a:t>
            </a:r>
            <a:r>
              <a:rPr lang="en-US" sz="900" dirty="0" err="1"/>
              <a:t>bill_id</a:t>
            </a:r>
            <a:endParaRPr lang="en-US" sz="900" dirty="0"/>
          </a:p>
          <a:p>
            <a:r>
              <a:rPr lang="en-US" sz="900" dirty="0"/>
              <a:t>        </a:t>
            </a:r>
            <a:r>
              <a:rPr lang="en-US" sz="900" dirty="0" err="1"/>
              <a:t>self.patient_id</a:t>
            </a:r>
            <a:r>
              <a:rPr lang="en-US" sz="900" dirty="0"/>
              <a:t> = </a:t>
            </a:r>
            <a:r>
              <a:rPr lang="en-US" sz="900" dirty="0" err="1"/>
              <a:t>patient_id</a:t>
            </a:r>
            <a:endParaRPr lang="en-US" sz="900" dirty="0"/>
          </a:p>
          <a:p>
            <a:r>
              <a:rPr lang="en-US" sz="900" dirty="0"/>
              <a:t>        </a:t>
            </a:r>
            <a:r>
              <a:rPr lang="en-US" sz="900" dirty="0" err="1"/>
              <a:t>self.services</a:t>
            </a:r>
            <a:r>
              <a:rPr lang="en-US" sz="900" dirty="0"/>
              <a:t> = services</a:t>
            </a:r>
          </a:p>
          <a:p>
            <a:r>
              <a:rPr lang="en-US" sz="900" dirty="0"/>
              <a:t>        </a:t>
            </a:r>
            <a:r>
              <a:rPr lang="en-US" sz="900" dirty="0" err="1"/>
              <a:t>self.total_amount</a:t>
            </a:r>
            <a:r>
              <a:rPr lang="en-US" sz="900" dirty="0"/>
              <a:t> = </a:t>
            </a:r>
            <a:r>
              <a:rPr lang="en-US" sz="900" dirty="0" err="1"/>
              <a:t>total_amount</a:t>
            </a:r>
            <a:endParaRPr lang="en-US" sz="900" dirty="0"/>
          </a:p>
          <a:p>
            <a:endParaRPr lang="en-US" sz="900" dirty="0"/>
          </a:p>
          <a:p>
            <a:r>
              <a:rPr lang="en-US" sz="900" dirty="0"/>
              <a:t>class </a:t>
            </a:r>
            <a:r>
              <a:rPr lang="en-US" sz="900" dirty="0" err="1"/>
              <a:t>HospitalManagementSystem</a:t>
            </a:r>
            <a:r>
              <a:rPr lang="en-US" sz="900" dirty="0"/>
              <a:t>:</a:t>
            </a:r>
          </a:p>
          <a:p>
            <a:r>
              <a:rPr lang="en-US" sz="900" dirty="0"/>
              <a:t>    def __</a:t>
            </a:r>
            <a:r>
              <a:rPr lang="en-US" sz="900" dirty="0" err="1"/>
              <a:t>init</a:t>
            </a:r>
            <a:r>
              <a:rPr lang="en-US" sz="900" dirty="0"/>
              <a:t>__(self):</a:t>
            </a:r>
          </a:p>
          <a:p>
            <a:r>
              <a:rPr lang="en-US" sz="900" dirty="0"/>
              <a:t>        </a:t>
            </a:r>
            <a:r>
              <a:rPr lang="en-US" sz="900" dirty="0" err="1"/>
              <a:t>self.patients</a:t>
            </a:r>
            <a:r>
              <a:rPr lang="en-US" sz="900" dirty="0"/>
              <a:t> = []</a:t>
            </a:r>
          </a:p>
          <a:p>
            <a:r>
              <a:rPr lang="en-US" sz="900" dirty="0"/>
              <a:t>        </a:t>
            </a:r>
            <a:r>
              <a:rPr lang="en-US" sz="900" dirty="0" err="1"/>
              <a:t>self.appointments</a:t>
            </a:r>
            <a:r>
              <a:rPr lang="en-US" sz="900" dirty="0"/>
              <a:t> = []</a:t>
            </a:r>
          </a:p>
          <a:p>
            <a:r>
              <a:rPr lang="en-US" sz="900" dirty="0"/>
              <a:t>        </a:t>
            </a:r>
            <a:r>
              <a:rPr lang="en-US" sz="900" dirty="0" err="1"/>
              <a:t>self.bills</a:t>
            </a:r>
            <a:r>
              <a:rPr lang="en-US" sz="900" dirty="0"/>
              <a:t> = []</a:t>
            </a:r>
          </a:p>
          <a:p>
            <a:endParaRPr lang="en-US" sz="900" dirty="0"/>
          </a:p>
          <a:p>
            <a:r>
              <a:rPr lang="en-US" sz="900" dirty="0"/>
              <a:t>    # Patient-related functionalities</a:t>
            </a:r>
          </a:p>
          <a:p>
            <a:r>
              <a:rPr lang="en-US" sz="900" dirty="0"/>
              <a:t>    def </a:t>
            </a:r>
            <a:r>
              <a:rPr lang="en-US" sz="900" dirty="0" err="1"/>
              <a:t>add_patient</a:t>
            </a:r>
            <a:r>
              <a:rPr lang="en-US" sz="900" dirty="0"/>
              <a:t>(self, patient):</a:t>
            </a:r>
          </a:p>
          <a:p>
            <a:r>
              <a:rPr lang="en-US" sz="900" dirty="0"/>
              <a:t>        </a:t>
            </a:r>
            <a:r>
              <a:rPr lang="en-US" sz="900" dirty="0" err="1"/>
              <a:t>self.patients.append</a:t>
            </a:r>
            <a:r>
              <a:rPr lang="en-US" sz="900" dirty="0"/>
              <a:t>(patient)</a:t>
            </a:r>
          </a:p>
          <a:p>
            <a:r>
              <a:rPr lang="en-US" sz="900" dirty="0"/>
              <a:t>        print(</a:t>
            </a:r>
            <a:r>
              <a:rPr lang="en-US" sz="900" dirty="0" err="1"/>
              <a:t>f"Patient</a:t>
            </a:r>
            <a:r>
              <a:rPr lang="en-US" sz="900" dirty="0"/>
              <a:t> {patient.name} added successfully!")</a:t>
            </a:r>
          </a:p>
          <a:p>
            <a:endParaRPr lang="en-US" sz="900" dirty="0"/>
          </a:p>
          <a:p>
            <a:r>
              <a:rPr lang="en-US" sz="900" dirty="0"/>
              <a:t>    def </a:t>
            </a:r>
            <a:r>
              <a:rPr lang="en-US" sz="900" dirty="0" err="1"/>
              <a:t>view_patients</a:t>
            </a:r>
            <a:r>
              <a:rPr lang="en-US" sz="900" dirty="0"/>
              <a:t>(self):</a:t>
            </a:r>
          </a:p>
          <a:p>
            <a:r>
              <a:rPr lang="en-US" sz="900" dirty="0"/>
              <a:t>        if not </a:t>
            </a:r>
            <a:r>
              <a:rPr lang="en-US" sz="900" dirty="0" err="1"/>
              <a:t>self.patients</a:t>
            </a:r>
            <a:r>
              <a:rPr lang="en-US" sz="900" dirty="0"/>
              <a:t>:</a:t>
            </a:r>
          </a:p>
          <a:p>
            <a:r>
              <a:rPr lang="en-US" sz="900" dirty="0"/>
              <a:t>            print("No patients found.")</a:t>
            </a:r>
          </a:p>
          <a:p>
            <a:r>
              <a:rPr lang="en-US" sz="900" dirty="0"/>
              <a:t>            return</a:t>
            </a:r>
          </a:p>
          <a:p>
            <a:r>
              <a:rPr lang="en-US" sz="900" dirty="0"/>
              <a:t>        for patient in </a:t>
            </a:r>
            <a:r>
              <a:rPr lang="en-US" sz="900" dirty="0" err="1"/>
              <a:t>self.patients</a:t>
            </a:r>
            <a:r>
              <a:rPr lang="en-US" sz="900" dirty="0"/>
              <a:t>:</a:t>
            </a:r>
          </a:p>
          <a:p>
            <a:r>
              <a:rPr lang="en-US" sz="900" dirty="0"/>
              <a:t>            print(</a:t>
            </a:r>
            <a:r>
              <a:rPr lang="en-US" sz="900" dirty="0" err="1"/>
              <a:t>f"ID</a:t>
            </a:r>
            <a:r>
              <a:rPr lang="en-US" sz="900" dirty="0"/>
              <a:t>: {</a:t>
            </a:r>
            <a:r>
              <a:rPr lang="en-US" sz="900" dirty="0" err="1"/>
              <a:t>patient.patient_id</a:t>
            </a:r>
            <a:r>
              <a:rPr lang="en-US" sz="900" dirty="0"/>
              <a:t>}, Name: {patient.name}, Age: {</a:t>
            </a:r>
            <a:r>
              <a:rPr lang="en-US" sz="900" dirty="0" err="1"/>
              <a:t>patient.age</a:t>
            </a:r>
            <a:r>
              <a:rPr lang="en-US" sz="900" dirty="0"/>
              <a:t>}, Ailment: {</a:t>
            </a:r>
            <a:r>
              <a:rPr lang="en-US" sz="900" dirty="0" err="1"/>
              <a:t>patient.ailment</a:t>
            </a:r>
            <a:r>
              <a:rPr lang="en-US" sz="900" dirty="0"/>
              <a:t>}")</a:t>
            </a:r>
          </a:p>
        </p:txBody>
      </p:sp>
    </p:spTree>
    <p:extLst>
      <p:ext uri="{BB962C8B-B14F-4D97-AF65-F5344CB8AC3E}">
        <p14:creationId xmlns:p14="http://schemas.microsoft.com/office/powerpoint/2010/main" val="3891557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0EBE7-3C34-A8F9-EA66-44A02E74C5EC}"/>
              </a:ext>
            </a:extLst>
          </p:cNvPr>
          <p:cNvSpPr txBox="1"/>
          <p:nvPr/>
        </p:nvSpPr>
        <p:spPr>
          <a:xfrm>
            <a:off x="314960" y="213360"/>
            <a:ext cx="11562080" cy="6032421"/>
          </a:xfrm>
          <a:prstGeom prst="rect">
            <a:avLst/>
          </a:prstGeom>
          <a:noFill/>
        </p:spPr>
        <p:txBody>
          <a:bodyPr wrap="square" rtlCol="0">
            <a:spAutoFit/>
          </a:bodyPr>
          <a:lstStyle/>
          <a:p>
            <a:r>
              <a:rPr lang="en-US" sz="800" dirty="0"/>
              <a:t>def </a:t>
            </a:r>
            <a:r>
              <a:rPr lang="en-US" sz="800" dirty="0" err="1"/>
              <a:t>search_patient</a:t>
            </a:r>
            <a:r>
              <a:rPr lang="en-US" sz="800" dirty="0"/>
              <a:t>(self, </a:t>
            </a:r>
            <a:r>
              <a:rPr lang="en-US" sz="800" dirty="0" err="1"/>
              <a:t>patient_id</a:t>
            </a:r>
            <a:r>
              <a:rPr lang="en-US" sz="800" dirty="0"/>
              <a:t>):</a:t>
            </a:r>
          </a:p>
          <a:p>
            <a:r>
              <a:rPr lang="en-US" sz="800" dirty="0"/>
              <a:t>        for patient in </a:t>
            </a:r>
            <a:r>
              <a:rPr lang="en-US" sz="800" dirty="0" err="1"/>
              <a:t>self.patients</a:t>
            </a:r>
            <a:r>
              <a:rPr lang="en-US" sz="800" dirty="0"/>
              <a:t>:</a:t>
            </a:r>
          </a:p>
          <a:p>
            <a:r>
              <a:rPr lang="en-US" sz="800" dirty="0"/>
              <a:t>            if </a:t>
            </a:r>
            <a:r>
              <a:rPr lang="en-US" sz="800" dirty="0" err="1"/>
              <a:t>patient.patient_id</a:t>
            </a:r>
            <a:r>
              <a:rPr lang="en-US" sz="800" dirty="0"/>
              <a:t> == </a:t>
            </a:r>
            <a:r>
              <a:rPr lang="en-US" sz="800" dirty="0" err="1"/>
              <a:t>patient_id</a:t>
            </a:r>
            <a:r>
              <a:rPr lang="en-US" sz="800" dirty="0"/>
              <a:t>:</a:t>
            </a:r>
          </a:p>
          <a:p>
            <a:r>
              <a:rPr lang="en-US" sz="800" dirty="0"/>
              <a:t>                print(</a:t>
            </a:r>
            <a:r>
              <a:rPr lang="en-US" sz="800" dirty="0" err="1"/>
              <a:t>f"ID</a:t>
            </a:r>
            <a:r>
              <a:rPr lang="en-US" sz="800" dirty="0"/>
              <a:t>: {</a:t>
            </a:r>
            <a:r>
              <a:rPr lang="en-US" sz="800" dirty="0" err="1"/>
              <a:t>patient.patient_id</a:t>
            </a:r>
            <a:r>
              <a:rPr lang="en-US" sz="800" dirty="0"/>
              <a:t>}, Name: {patient.name}, Age: {</a:t>
            </a:r>
            <a:r>
              <a:rPr lang="en-US" sz="800" dirty="0" err="1"/>
              <a:t>patient.age</a:t>
            </a:r>
            <a:r>
              <a:rPr lang="en-US" sz="800" dirty="0"/>
              <a:t>}, Ailment: {</a:t>
            </a:r>
            <a:r>
              <a:rPr lang="en-US" sz="800" dirty="0" err="1"/>
              <a:t>patient.ailment</a:t>
            </a:r>
            <a:r>
              <a:rPr lang="en-US" sz="800" dirty="0"/>
              <a:t>}")</a:t>
            </a:r>
          </a:p>
          <a:p>
            <a:r>
              <a:rPr lang="en-US" sz="800" dirty="0"/>
              <a:t>                return</a:t>
            </a:r>
          </a:p>
          <a:p>
            <a:r>
              <a:rPr lang="en-US" sz="800" dirty="0"/>
              <a:t>        print("Patient not found.")</a:t>
            </a:r>
          </a:p>
          <a:p>
            <a:endParaRPr lang="en-US" sz="800" dirty="0"/>
          </a:p>
          <a:p>
            <a:r>
              <a:rPr lang="en-US" sz="800" dirty="0"/>
              <a:t>    # Appointment-related functionalities</a:t>
            </a:r>
          </a:p>
          <a:p>
            <a:r>
              <a:rPr lang="en-US" sz="800" dirty="0"/>
              <a:t>    def </a:t>
            </a:r>
            <a:r>
              <a:rPr lang="en-US" sz="800" dirty="0" err="1"/>
              <a:t>schedule_appointment</a:t>
            </a:r>
            <a:r>
              <a:rPr lang="en-US" sz="800" dirty="0"/>
              <a:t>(self, appointment):</a:t>
            </a:r>
          </a:p>
          <a:p>
            <a:r>
              <a:rPr lang="en-US" sz="800" dirty="0"/>
              <a:t>        </a:t>
            </a:r>
            <a:r>
              <a:rPr lang="en-US" sz="800" dirty="0" err="1"/>
              <a:t>self.appointments.append</a:t>
            </a:r>
            <a:r>
              <a:rPr lang="en-US" sz="800" dirty="0"/>
              <a:t>(appointment)</a:t>
            </a:r>
          </a:p>
          <a:p>
            <a:r>
              <a:rPr lang="en-US" sz="800" dirty="0"/>
              <a:t>        print(</a:t>
            </a:r>
            <a:r>
              <a:rPr lang="en-US" sz="800" dirty="0" err="1"/>
              <a:t>f"Appointment</a:t>
            </a:r>
            <a:r>
              <a:rPr lang="en-US" sz="800" dirty="0"/>
              <a:t> for patient ID {</a:t>
            </a:r>
            <a:r>
              <a:rPr lang="en-US" sz="800" dirty="0" err="1"/>
              <a:t>appointment.patient_id</a:t>
            </a:r>
            <a:r>
              <a:rPr lang="en-US" sz="800" dirty="0"/>
              <a:t>} scheduled successfully!")</a:t>
            </a:r>
          </a:p>
          <a:p>
            <a:endParaRPr lang="en-US" sz="800" dirty="0"/>
          </a:p>
          <a:p>
            <a:r>
              <a:rPr lang="en-US" sz="800" dirty="0"/>
              <a:t>    def </a:t>
            </a:r>
            <a:r>
              <a:rPr lang="en-US" sz="800" dirty="0" err="1"/>
              <a:t>view_appointments</a:t>
            </a:r>
            <a:r>
              <a:rPr lang="en-US" sz="800" dirty="0"/>
              <a:t>(self):</a:t>
            </a:r>
          </a:p>
          <a:p>
            <a:r>
              <a:rPr lang="en-US" sz="800" dirty="0"/>
              <a:t>        if not </a:t>
            </a:r>
            <a:r>
              <a:rPr lang="en-US" sz="800" dirty="0" err="1"/>
              <a:t>self.appointments</a:t>
            </a:r>
            <a:r>
              <a:rPr lang="en-US" sz="800" dirty="0"/>
              <a:t>:</a:t>
            </a:r>
          </a:p>
          <a:p>
            <a:r>
              <a:rPr lang="en-US" sz="800" dirty="0"/>
              <a:t>            print("No appointments found.")</a:t>
            </a:r>
          </a:p>
          <a:p>
            <a:r>
              <a:rPr lang="en-US" sz="800" dirty="0"/>
              <a:t>            return</a:t>
            </a:r>
          </a:p>
          <a:p>
            <a:r>
              <a:rPr lang="en-US" sz="800" dirty="0"/>
              <a:t>        for appointment in </a:t>
            </a:r>
            <a:r>
              <a:rPr lang="en-US" sz="800" dirty="0" err="1"/>
              <a:t>self.appointments</a:t>
            </a:r>
            <a:r>
              <a:rPr lang="en-US" sz="800" dirty="0"/>
              <a:t>:</a:t>
            </a:r>
          </a:p>
          <a:p>
            <a:r>
              <a:rPr lang="en-US" sz="800" dirty="0"/>
              <a:t>            print(</a:t>
            </a:r>
            <a:r>
              <a:rPr lang="en-US" sz="800" dirty="0" err="1"/>
              <a:t>f"Appointment</a:t>
            </a:r>
            <a:r>
              <a:rPr lang="en-US" sz="800" dirty="0"/>
              <a:t> ID: {</a:t>
            </a:r>
            <a:r>
              <a:rPr lang="en-US" sz="800" dirty="0" err="1"/>
              <a:t>appointment.appointment_id</a:t>
            </a:r>
            <a:r>
              <a:rPr lang="en-US" sz="800" dirty="0"/>
              <a:t>}, Patient ID: {</a:t>
            </a:r>
            <a:r>
              <a:rPr lang="en-US" sz="800" dirty="0" err="1"/>
              <a:t>appointment.patient_id</a:t>
            </a:r>
            <a:r>
              <a:rPr lang="en-US" sz="800" dirty="0"/>
              <a:t>}, "</a:t>
            </a:r>
          </a:p>
          <a:p>
            <a:r>
              <a:rPr lang="en-US" sz="800" dirty="0"/>
              <a:t>                  </a:t>
            </a:r>
            <a:r>
              <a:rPr lang="en-US" sz="800" dirty="0" err="1"/>
              <a:t>f"Doctor</a:t>
            </a:r>
            <a:r>
              <a:rPr lang="en-US" sz="800" dirty="0"/>
              <a:t>: {</a:t>
            </a:r>
            <a:r>
              <a:rPr lang="en-US" sz="800" dirty="0" err="1"/>
              <a:t>appointment.doctor_name</a:t>
            </a:r>
            <a:r>
              <a:rPr lang="en-US" sz="800" dirty="0"/>
              <a:t>}, Date: {</a:t>
            </a:r>
            <a:r>
              <a:rPr lang="en-US" sz="800" dirty="0" err="1"/>
              <a:t>appointment.date</a:t>
            </a:r>
            <a:r>
              <a:rPr lang="en-US" sz="800" dirty="0"/>
              <a:t>}, Time: {</a:t>
            </a:r>
            <a:r>
              <a:rPr lang="en-US" sz="800" dirty="0" err="1"/>
              <a:t>appointment.time</a:t>
            </a:r>
            <a:r>
              <a:rPr lang="en-US" sz="800" dirty="0"/>
              <a:t>}")</a:t>
            </a:r>
          </a:p>
          <a:p>
            <a:endParaRPr lang="en-US" sz="800" dirty="0"/>
          </a:p>
          <a:p>
            <a:r>
              <a:rPr lang="en-US" sz="800" dirty="0"/>
              <a:t>    # Billing functionalities</a:t>
            </a:r>
          </a:p>
          <a:p>
            <a:r>
              <a:rPr lang="en-US" sz="800" dirty="0"/>
              <a:t>    def </a:t>
            </a:r>
            <a:r>
              <a:rPr lang="en-US" sz="800" dirty="0" err="1"/>
              <a:t>generate_bill</a:t>
            </a:r>
            <a:r>
              <a:rPr lang="en-US" sz="800" dirty="0"/>
              <a:t>(self, bill):</a:t>
            </a:r>
          </a:p>
          <a:p>
            <a:r>
              <a:rPr lang="en-US" sz="800" dirty="0"/>
              <a:t>        </a:t>
            </a:r>
            <a:r>
              <a:rPr lang="en-US" sz="800" dirty="0" err="1"/>
              <a:t>self.bills.append</a:t>
            </a:r>
            <a:r>
              <a:rPr lang="en-US" sz="800" dirty="0"/>
              <a:t>(bill)</a:t>
            </a:r>
          </a:p>
          <a:p>
            <a:r>
              <a:rPr lang="en-US" sz="800" dirty="0"/>
              <a:t>        print(</a:t>
            </a:r>
            <a:r>
              <a:rPr lang="en-US" sz="800" dirty="0" err="1"/>
              <a:t>f"Bill</a:t>
            </a:r>
            <a:r>
              <a:rPr lang="en-US" sz="800" dirty="0"/>
              <a:t> {</a:t>
            </a:r>
            <a:r>
              <a:rPr lang="en-US" sz="800" dirty="0" err="1"/>
              <a:t>bill.bill_id</a:t>
            </a:r>
            <a:r>
              <a:rPr lang="en-US" sz="800" dirty="0"/>
              <a:t>} for patient ID {</a:t>
            </a:r>
            <a:r>
              <a:rPr lang="en-US" sz="800" dirty="0" err="1"/>
              <a:t>bill.patient_id</a:t>
            </a:r>
            <a:r>
              <a:rPr lang="en-US" sz="800" dirty="0"/>
              <a:t>} generated successfully!")</a:t>
            </a:r>
          </a:p>
          <a:p>
            <a:endParaRPr lang="en-US" sz="800" dirty="0"/>
          </a:p>
          <a:p>
            <a:r>
              <a:rPr lang="en-US" sz="800" dirty="0"/>
              <a:t>    def </a:t>
            </a:r>
            <a:r>
              <a:rPr lang="en-US" sz="800" dirty="0" err="1"/>
              <a:t>view_bills</a:t>
            </a:r>
            <a:r>
              <a:rPr lang="en-US" sz="800" dirty="0"/>
              <a:t>(self):</a:t>
            </a:r>
          </a:p>
          <a:p>
            <a:r>
              <a:rPr lang="en-US" sz="800" dirty="0"/>
              <a:t>        if not </a:t>
            </a:r>
            <a:r>
              <a:rPr lang="en-US" sz="800" dirty="0" err="1"/>
              <a:t>self.bills</a:t>
            </a:r>
            <a:r>
              <a:rPr lang="en-US" sz="800" dirty="0"/>
              <a:t>:</a:t>
            </a:r>
          </a:p>
          <a:p>
            <a:r>
              <a:rPr lang="en-US" sz="800" dirty="0"/>
              <a:t>            print("No bills found.")</a:t>
            </a:r>
          </a:p>
          <a:p>
            <a:r>
              <a:rPr lang="en-US" sz="800" dirty="0"/>
              <a:t>            return</a:t>
            </a:r>
          </a:p>
          <a:p>
            <a:r>
              <a:rPr lang="en-US" sz="800" dirty="0"/>
              <a:t>        for bill in </a:t>
            </a:r>
            <a:r>
              <a:rPr lang="en-US" sz="800" dirty="0" err="1"/>
              <a:t>self.bills</a:t>
            </a:r>
            <a:r>
              <a:rPr lang="en-US" sz="800" dirty="0"/>
              <a:t>:</a:t>
            </a:r>
          </a:p>
          <a:p>
            <a:r>
              <a:rPr lang="en-US" sz="800" dirty="0"/>
              <a:t>            print(</a:t>
            </a:r>
            <a:r>
              <a:rPr lang="en-US" sz="800" dirty="0" err="1"/>
              <a:t>f"Bill</a:t>
            </a:r>
            <a:r>
              <a:rPr lang="en-US" sz="800" dirty="0"/>
              <a:t> ID: {</a:t>
            </a:r>
            <a:r>
              <a:rPr lang="en-US" sz="800" dirty="0" err="1"/>
              <a:t>bill.bill_id</a:t>
            </a:r>
            <a:r>
              <a:rPr lang="en-US" sz="800" dirty="0"/>
              <a:t>}, Patient ID: {</a:t>
            </a:r>
            <a:r>
              <a:rPr lang="en-US" sz="800" dirty="0" err="1"/>
              <a:t>bill.patient_id</a:t>
            </a:r>
            <a:r>
              <a:rPr lang="en-US" sz="800" dirty="0"/>
              <a:t>}, "</a:t>
            </a:r>
          </a:p>
          <a:p>
            <a:r>
              <a:rPr lang="en-US" sz="800" dirty="0"/>
              <a:t>                  </a:t>
            </a:r>
            <a:r>
              <a:rPr lang="en-US" sz="800" dirty="0" err="1"/>
              <a:t>f"Services</a:t>
            </a:r>
            <a:r>
              <a:rPr lang="en-US" sz="800" dirty="0"/>
              <a:t>: {', '.join(</a:t>
            </a:r>
            <a:r>
              <a:rPr lang="en-US" sz="800" dirty="0" err="1"/>
              <a:t>bill.services</a:t>
            </a:r>
            <a:r>
              <a:rPr lang="en-US" sz="800" dirty="0"/>
              <a:t>)}, Total Amount: ₹{</a:t>
            </a:r>
            <a:r>
              <a:rPr lang="en-US" sz="800" dirty="0" err="1"/>
              <a:t>bill.total_amount</a:t>
            </a:r>
            <a:r>
              <a:rPr lang="en-US" sz="800" dirty="0"/>
              <a:t>}")</a:t>
            </a:r>
          </a:p>
          <a:p>
            <a:endParaRPr lang="en-US" sz="800" dirty="0"/>
          </a:p>
          <a:p>
            <a:r>
              <a:rPr lang="en-US" sz="800" dirty="0"/>
              <a:t>if __name__ == "__main__":</a:t>
            </a:r>
          </a:p>
          <a:p>
            <a:r>
              <a:rPr lang="en-US" sz="800" dirty="0"/>
              <a:t>    </a:t>
            </a:r>
            <a:r>
              <a:rPr lang="en-US" sz="800" dirty="0" err="1"/>
              <a:t>hms</a:t>
            </a:r>
            <a:r>
              <a:rPr lang="en-US" sz="800" dirty="0"/>
              <a:t> = </a:t>
            </a:r>
            <a:r>
              <a:rPr lang="en-US" sz="800" dirty="0" err="1"/>
              <a:t>HospitalManagementSystem</a:t>
            </a:r>
            <a:r>
              <a:rPr lang="en-US" sz="800" dirty="0"/>
              <a:t>()</a:t>
            </a:r>
          </a:p>
          <a:p>
            <a:r>
              <a:rPr lang="en-US" sz="800" dirty="0"/>
              <a:t>    while True:</a:t>
            </a:r>
          </a:p>
          <a:p>
            <a:r>
              <a:rPr lang="en-US" sz="800" dirty="0"/>
              <a:t>        print("\</a:t>
            </a:r>
            <a:r>
              <a:rPr lang="en-US" sz="800" dirty="0" err="1"/>
              <a:t>nHospital</a:t>
            </a:r>
            <a:r>
              <a:rPr lang="en-US" sz="800" dirty="0"/>
              <a:t> Management System")</a:t>
            </a:r>
          </a:p>
          <a:p>
            <a:r>
              <a:rPr lang="en-US" sz="800" dirty="0"/>
              <a:t>        print("1. Add Patient")</a:t>
            </a:r>
          </a:p>
          <a:p>
            <a:r>
              <a:rPr lang="en-US" sz="800" dirty="0"/>
              <a:t>        print("2. View Patients")</a:t>
            </a:r>
          </a:p>
          <a:p>
            <a:r>
              <a:rPr lang="en-US" sz="800" dirty="0"/>
              <a:t>        print("3. Search Patient by ID")</a:t>
            </a:r>
          </a:p>
          <a:p>
            <a:r>
              <a:rPr lang="en-US" sz="800" dirty="0"/>
              <a:t>        print("4. Schedule Appointment")</a:t>
            </a:r>
          </a:p>
          <a:p>
            <a:r>
              <a:rPr lang="en-US" sz="800" dirty="0"/>
              <a:t>        print("5. View Appointments")</a:t>
            </a:r>
          </a:p>
          <a:p>
            <a:r>
              <a:rPr lang="en-US" sz="800" dirty="0"/>
              <a:t>        print("6. Generate Bill")</a:t>
            </a:r>
          </a:p>
          <a:p>
            <a:r>
              <a:rPr lang="en-US" sz="800" dirty="0"/>
              <a:t>        print("7. View Bills")</a:t>
            </a:r>
          </a:p>
          <a:p>
            <a:r>
              <a:rPr lang="en-US" sz="800" dirty="0"/>
              <a:t>        print("8. Exit")</a:t>
            </a:r>
          </a:p>
          <a:p>
            <a:r>
              <a:rPr lang="en-US" sz="800" dirty="0"/>
              <a:t>        choice = input("Enter your choice: ")</a:t>
            </a:r>
          </a:p>
          <a:p>
            <a:endParaRPr lang="en-US" dirty="0"/>
          </a:p>
        </p:txBody>
      </p:sp>
    </p:spTree>
    <p:extLst>
      <p:ext uri="{BB962C8B-B14F-4D97-AF65-F5344CB8AC3E}">
        <p14:creationId xmlns:p14="http://schemas.microsoft.com/office/powerpoint/2010/main" val="2648859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CF52C3-DA4B-4F9C-AFBA-2F97BE6B939A}"/>
              </a:ext>
            </a:extLst>
          </p:cNvPr>
          <p:cNvSpPr txBox="1"/>
          <p:nvPr/>
        </p:nvSpPr>
        <p:spPr>
          <a:xfrm>
            <a:off x="355600" y="355600"/>
            <a:ext cx="11318240" cy="6063198"/>
          </a:xfrm>
          <a:prstGeom prst="rect">
            <a:avLst/>
          </a:prstGeom>
          <a:noFill/>
        </p:spPr>
        <p:txBody>
          <a:bodyPr wrap="square" rtlCol="0">
            <a:spAutoFit/>
          </a:bodyPr>
          <a:lstStyle/>
          <a:p>
            <a:r>
              <a:rPr lang="en-US" sz="1000" dirty="0"/>
              <a:t>if choice == "1":</a:t>
            </a:r>
          </a:p>
          <a:p>
            <a:r>
              <a:rPr lang="en-US" sz="1000" dirty="0"/>
              <a:t>            </a:t>
            </a:r>
            <a:r>
              <a:rPr lang="en-US" sz="1000" dirty="0" err="1"/>
              <a:t>patient_id</a:t>
            </a:r>
            <a:r>
              <a:rPr lang="en-US" sz="1000" dirty="0"/>
              <a:t> = input("Enter Patient ID: ")</a:t>
            </a:r>
          </a:p>
          <a:p>
            <a:r>
              <a:rPr lang="en-US" sz="1000" dirty="0"/>
              <a:t>            name = input("Enter Patient Name: ")</a:t>
            </a:r>
          </a:p>
          <a:p>
            <a:r>
              <a:rPr lang="en-US" sz="1000" dirty="0"/>
              <a:t>            age = int(input("Enter Patient Age: "))</a:t>
            </a:r>
          </a:p>
          <a:p>
            <a:r>
              <a:rPr lang="en-US" sz="1000" dirty="0"/>
              <a:t>            ailment = input("Enter Ailment: ")</a:t>
            </a:r>
          </a:p>
          <a:p>
            <a:r>
              <a:rPr lang="en-US" sz="1000" dirty="0"/>
              <a:t>            patient = Patient(</a:t>
            </a:r>
            <a:r>
              <a:rPr lang="en-US" sz="1000" dirty="0" err="1"/>
              <a:t>patient_id</a:t>
            </a:r>
            <a:r>
              <a:rPr lang="en-US" sz="1000" dirty="0"/>
              <a:t>, name, age, ailment)</a:t>
            </a:r>
          </a:p>
          <a:p>
            <a:r>
              <a:rPr lang="en-US" sz="1000" dirty="0"/>
              <a:t>            </a:t>
            </a:r>
            <a:r>
              <a:rPr lang="en-US" sz="1000" dirty="0" err="1"/>
              <a:t>hms.add_patient</a:t>
            </a:r>
            <a:r>
              <a:rPr lang="en-US" sz="1000" dirty="0"/>
              <a:t>(patient)</a:t>
            </a:r>
          </a:p>
          <a:p>
            <a:r>
              <a:rPr lang="en-US" sz="1000" dirty="0"/>
              <a:t>        </a:t>
            </a:r>
            <a:r>
              <a:rPr lang="en-US" sz="1000" dirty="0" err="1"/>
              <a:t>elif</a:t>
            </a:r>
            <a:r>
              <a:rPr lang="en-US" sz="1000" dirty="0"/>
              <a:t> choice == "2":</a:t>
            </a:r>
          </a:p>
          <a:p>
            <a:r>
              <a:rPr lang="en-US" sz="1000" dirty="0"/>
              <a:t>            </a:t>
            </a:r>
            <a:r>
              <a:rPr lang="en-US" sz="1000" dirty="0" err="1"/>
              <a:t>hms.view_patients</a:t>
            </a:r>
            <a:r>
              <a:rPr lang="en-US" sz="1000" dirty="0"/>
              <a:t>()</a:t>
            </a:r>
          </a:p>
          <a:p>
            <a:r>
              <a:rPr lang="en-US" sz="1000" dirty="0"/>
              <a:t>        </a:t>
            </a:r>
            <a:r>
              <a:rPr lang="en-US" sz="1000" dirty="0" err="1"/>
              <a:t>elif</a:t>
            </a:r>
            <a:r>
              <a:rPr lang="en-US" sz="1000" dirty="0"/>
              <a:t> choice == "3":</a:t>
            </a:r>
          </a:p>
          <a:p>
            <a:r>
              <a:rPr lang="en-US" sz="1000" dirty="0"/>
              <a:t>            </a:t>
            </a:r>
            <a:r>
              <a:rPr lang="en-US" sz="1000" dirty="0" err="1"/>
              <a:t>patient_id</a:t>
            </a:r>
            <a:r>
              <a:rPr lang="en-US" sz="1000" dirty="0"/>
              <a:t> = input("Enter Patient ID to search: ")</a:t>
            </a:r>
          </a:p>
          <a:p>
            <a:r>
              <a:rPr lang="en-US" sz="1000" dirty="0"/>
              <a:t>            </a:t>
            </a:r>
            <a:r>
              <a:rPr lang="en-US" sz="1000" dirty="0" err="1"/>
              <a:t>hms.search_patient</a:t>
            </a:r>
            <a:r>
              <a:rPr lang="en-US" sz="1000" dirty="0"/>
              <a:t>(</a:t>
            </a:r>
            <a:r>
              <a:rPr lang="en-US" sz="1000" dirty="0" err="1"/>
              <a:t>patient_id</a:t>
            </a:r>
            <a:r>
              <a:rPr lang="en-US" sz="1000" dirty="0"/>
              <a:t>)</a:t>
            </a:r>
          </a:p>
          <a:p>
            <a:r>
              <a:rPr lang="en-US" sz="1000" dirty="0"/>
              <a:t>        </a:t>
            </a:r>
            <a:r>
              <a:rPr lang="en-US" sz="1000" dirty="0" err="1"/>
              <a:t>elif</a:t>
            </a:r>
            <a:r>
              <a:rPr lang="en-US" sz="1000" dirty="0"/>
              <a:t> choice == "4":</a:t>
            </a:r>
          </a:p>
          <a:p>
            <a:r>
              <a:rPr lang="en-US" sz="1000" dirty="0"/>
              <a:t>            </a:t>
            </a:r>
            <a:r>
              <a:rPr lang="en-US" sz="1000" dirty="0" err="1"/>
              <a:t>appointment_id</a:t>
            </a:r>
            <a:r>
              <a:rPr lang="en-US" sz="1000" dirty="0"/>
              <a:t> = input("Enter Appointment ID: ")</a:t>
            </a:r>
          </a:p>
          <a:p>
            <a:r>
              <a:rPr lang="en-US" sz="1000" dirty="0"/>
              <a:t>            </a:t>
            </a:r>
            <a:r>
              <a:rPr lang="en-US" sz="1000" dirty="0" err="1"/>
              <a:t>patient_id</a:t>
            </a:r>
            <a:r>
              <a:rPr lang="en-US" sz="1000" dirty="0"/>
              <a:t> = input("Enter Patient ID: ")</a:t>
            </a:r>
          </a:p>
          <a:p>
            <a:r>
              <a:rPr lang="en-US" sz="1000" dirty="0"/>
              <a:t>            </a:t>
            </a:r>
            <a:r>
              <a:rPr lang="en-US" sz="1000" dirty="0" err="1"/>
              <a:t>doctor_name</a:t>
            </a:r>
            <a:r>
              <a:rPr lang="en-US" sz="1000" dirty="0"/>
              <a:t> = input("Enter Doctor's Name: ")</a:t>
            </a:r>
          </a:p>
          <a:p>
            <a:r>
              <a:rPr lang="en-US" sz="1000" dirty="0"/>
              <a:t>            date = input("Enter Appointment Date (YYYY-MM-DD): ")</a:t>
            </a:r>
          </a:p>
          <a:p>
            <a:r>
              <a:rPr lang="en-US" sz="1000" dirty="0"/>
              <a:t>            time = input("Enter Appointment Time (HH:MM): ")</a:t>
            </a:r>
          </a:p>
          <a:p>
            <a:r>
              <a:rPr lang="en-US" sz="1000" dirty="0"/>
              <a:t>            appointment = Appointment(</a:t>
            </a:r>
            <a:r>
              <a:rPr lang="en-US" sz="1000" dirty="0" err="1"/>
              <a:t>appointment_id</a:t>
            </a:r>
            <a:r>
              <a:rPr lang="en-US" sz="1000" dirty="0"/>
              <a:t>, </a:t>
            </a:r>
            <a:r>
              <a:rPr lang="en-US" sz="1000" dirty="0" err="1"/>
              <a:t>patient_id</a:t>
            </a:r>
            <a:r>
              <a:rPr lang="en-US" sz="1000" dirty="0"/>
              <a:t>, </a:t>
            </a:r>
            <a:r>
              <a:rPr lang="en-US" sz="1000" dirty="0" err="1"/>
              <a:t>doctor_name</a:t>
            </a:r>
            <a:r>
              <a:rPr lang="en-US" sz="1000" dirty="0"/>
              <a:t>, date, time)</a:t>
            </a:r>
          </a:p>
          <a:p>
            <a:r>
              <a:rPr lang="en-US" sz="1000" dirty="0"/>
              <a:t>            </a:t>
            </a:r>
            <a:r>
              <a:rPr lang="en-US" sz="1000" dirty="0" err="1"/>
              <a:t>hms.schedule_appointment</a:t>
            </a:r>
            <a:r>
              <a:rPr lang="en-US" sz="1000" dirty="0"/>
              <a:t>(appointment)</a:t>
            </a:r>
          </a:p>
          <a:p>
            <a:r>
              <a:rPr lang="en-US" sz="1000" dirty="0"/>
              <a:t>        </a:t>
            </a:r>
            <a:r>
              <a:rPr lang="en-US" sz="1000" dirty="0" err="1"/>
              <a:t>elif</a:t>
            </a:r>
            <a:r>
              <a:rPr lang="en-US" sz="1000" dirty="0"/>
              <a:t> choice == "5":</a:t>
            </a:r>
          </a:p>
          <a:p>
            <a:r>
              <a:rPr lang="en-US" sz="1000" dirty="0"/>
              <a:t>            </a:t>
            </a:r>
            <a:r>
              <a:rPr lang="en-US" sz="1000" dirty="0" err="1"/>
              <a:t>hms.view_appointments</a:t>
            </a:r>
            <a:r>
              <a:rPr lang="en-US" sz="1000" dirty="0"/>
              <a:t>()</a:t>
            </a:r>
          </a:p>
          <a:p>
            <a:r>
              <a:rPr lang="en-US" sz="1000" dirty="0"/>
              <a:t>        </a:t>
            </a:r>
            <a:r>
              <a:rPr lang="en-US" sz="1000" dirty="0" err="1"/>
              <a:t>elif</a:t>
            </a:r>
            <a:r>
              <a:rPr lang="en-US" sz="1000" dirty="0"/>
              <a:t> choice == "6":</a:t>
            </a:r>
          </a:p>
          <a:p>
            <a:r>
              <a:rPr lang="en-US" sz="1000" dirty="0"/>
              <a:t>            </a:t>
            </a:r>
            <a:r>
              <a:rPr lang="en-US" sz="1000" dirty="0" err="1"/>
              <a:t>bill_id</a:t>
            </a:r>
            <a:r>
              <a:rPr lang="en-US" sz="1000" dirty="0"/>
              <a:t> = input("Enter Bill ID: ")</a:t>
            </a:r>
          </a:p>
          <a:p>
            <a:r>
              <a:rPr lang="en-US" sz="1000" dirty="0"/>
              <a:t>            </a:t>
            </a:r>
            <a:r>
              <a:rPr lang="en-US" sz="1000" dirty="0" err="1"/>
              <a:t>patient_id</a:t>
            </a:r>
            <a:r>
              <a:rPr lang="en-US" sz="1000" dirty="0"/>
              <a:t> = input("Enter Patient ID: ")</a:t>
            </a:r>
          </a:p>
          <a:p>
            <a:r>
              <a:rPr lang="en-US" sz="1000" dirty="0"/>
              <a:t>            services = input("Enter services provided (comma-separated): ").split(",")</a:t>
            </a:r>
          </a:p>
          <a:p>
            <a:r>
              <a:rPr lang="en-US" sz="1000" dirty="0"/>
              <a:t>            </a:t>
            </a:r>
            <a:r>
              <a:rPr lang="en-US" sz="1000" dirty="0" err="1"/>
              <a:t>total_amount</a:t>
            </a:r>
            <a:r>
              <a:rPr lang="en-US" sz="1000" dirty="0"/>
              <a:t> = float(input("Enter total amount (in ₹): "))</a:t>
            </a:r>
          </a:p>
          <a:p>
            <a:r>
              <a:rPr lang="en-US" sz="1000" dirty="0"/>
              <a:t>            bill = Bill(</a:t>
            </a:r>
            <a:r>
              <a:rPr lang="en-US" sz="1000" dirty="0" err="1"/>
              <a:t>bill_id</a:t>
            </a:r>
            <a:r>
              <a:rPr lang="en-US" sz="1000" dirty="0"/>
              <a:t>, </a:t>
            </a:r>
            <a:r>
              <a:rPr lang="en-US" sz="1000" dirty="0" err="1"/>
              <a:t>patient_id</a:t>
            </a:r>
            <a:r>
              <a:rPr lang="en-US" sz="1000" dirty="0"/>
              <a:t>, services, </a:t>
            </a:r>
            <a:r>
              <a:rPr lang="en-US" sz="1000" dirty="0" err="1"/>
              <a:t>total_amount</a:t>
            </a:r>
            <a:r>
              <a:rPr lang="en-US" sz="1000" dirty="0"/>
              <a:t>)</a:t>
            </a:r>
          </a:p>
          <a:p>
            <a:r>
              <a:rPr lang="en-US" sz="1000" dirty="0"/>
              <a:t>            </a:t>
            </a:r>
            <a:r>
              <a:rPr lang="en-US" sz="1000" dirty="0" err="1"/>
              <a:t>hms.generate_bill</a:t>
            </a:r>
            <a:r>
              <a:rPr lang="en-US" sz="1000" dirty="0"/>
              <a:t>(bill)</a:t>
            </a:r>
          </a:p>
          <a:p>
            <a:r>
              <a:rPr lang="en-US" sz="1000" dirty="0"/>
              <a:t>        </a:t>
            </a:r>
            <a:r>
              <a:rPr lang="en-US" sz="1000" dirty="0" err="1"/>
              <a:t>elif</a:t>
            </a:r>
            <a:r>
              <a:rPr lang="en-US" sz="1000" dirty="0"/>
              <a:t> choice == "7":</a:t>
            </a:r>
          </a:p>
          <a:p>
            <a:r>
              <a:rPr lang="en-US" sz="1000" dirty="0"/>
              <a:t>            </a:t>
            </a:r>
            <a:r>
              <a:rPr lang="en-US" sz="1000" dirty="0" err="1"/>
              <a:t>hms.view_bills</a:t>
            </a:r>
            <a:r>
              <a:rPr lang="en-US" sz="1000" dirty="0"/>
              <a:t>()</a:t>
            </a:r>
          </a:p>
          <a:p>
            <a:r>
              <a:rPr lang="en-US" sz="1000" dirty="0"/>
              <a:t>        </a:t>
            </a:r>
            <a:r>
              <a:rPr lang="en-US" sz="1000" dirty="0" err="1"/>
              <a:t>elif</a:t>
            </a:r>
            <a:r>
              <a:rPr lang="en-US" sz="1000" dirty="0"/>
              <a:t> choice == "8":</a:t>
            </a:r>
          </a:p>
          <a:p>
            <a:r>
              <a:rPr lang="en-US" sz="1000" dirty="0"/>
              <a:t>            print("Exiting the system. Goodbye!")</a:t>
            </a:r>
          </a:p>
          <a:p>
            <a:r>
              <a:rPr lang="en-US" sz="1000" dirty="0"/>
              <a:t>            break</a:t>
            </a:r>
          </a:p>
          <a:p>
            <a:r>
              <a:rPr lang="en-US" sz="1000" dirty="0"/>
              <a:t>        else:</a:t>
            </a:r>
          </a:p>
          <a:p>
            <a:r>
              <a:rPr lang="en-US" sz="1000" dirty="0"/>
              <a:t>            print("Invalid choice! Please try again.")</a:t>
            </a:r>
          </a:p>
          <a:p>
            <a:endParaRPr lang="en-US" sz="1000" dirty="0"/>
          </a:p>
          <a:p>
            <a:endParaRPr lang="en-US" dirty="0"/>
          </a:p>
        </p:txBody>
      </p:sp>
    </p:spTree>
    <p:extLst>
      <p:ext uri="{BB962C8B-B14F-4D97-AF65-F5344CB8AC3E}">
        <p14:creationId xmlns:p14="http://schemas.microsoft.com/office/powerpoint/2010/main" val="2430120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21E3A6-588B-77D6-C5B4-555B845BFE0D}"/>
              </a:ext>
            </a:extLst>
          </p:cNvPr>
          <p:cNvSpPr txBox="1"/>
          <p:nvPr/>
        </p:nvSpPr>
        <p:spPr>
          <a:xfrm>
            <a:off x="233680" y="335280"/>
            <a:ext cx="11633200" cy="6032421"/>
          </a:xfrm>
          <a:prstGeom prst="rect">
            <a:avLst/>
          </a:prstGeom>
          <a:noFill/>
        </p:spPr>
        <p:txBody>
          <a:bodyPr wrap="square" rtlCol="0">
            <a:spAutoFit/>
          </a:bodyPr>
          <a:lstStyle/>
          <a:p>
            <a:r>
              <a:rPr lang="en-US" sz="1600" dirty="0">
                <a:solidFill>
                  <a:srgbClr val="7030A0"/>
                </a:solidFill>
              </a:rPr>
              <a:t>RESULTS AND DISCUSSIONS</a:t>
            </a:r>
          </a:p>
          <a:p>
            <a:endParaRPr lang="en-US" sz="1600" dirty="0"/>
          </a:p>
          <a:p>
            <a:endParaRPr lang="en-US" sz="1600" dirty="0"/>
          </a:p>
          <a:p>
            <a:r>
              <a:rPr lang="en-US" sz="1600" dirty="0"/>
              <a:t>Results:</a:t>
            </a:r>
          </a:p>
          <a:p>
            <a:endParaRPr lang="en-US" sz="1600" dirty="0"/>
          </a:p>
          <a:p>
            <a:r>
              <a:rPr lang="en-US" sz="1600" dirty="0"/>
              <a:t>1. Successful Implementation of Features:</a:t>
            </a:r>
          </a:p>
          <a:p>
            <a:r>
              <a:rPr lang="en-US" sz="1600" dirty="0"/>
              <a:t>   - Patient Management: Streamlined patient registration and record-keeping, significantly reducing processing time.</a:t>
            </a:r>
          </a:p>
          <a:p>
            <a:r>
              <a:rPr lang="en-US" sz="1600" dirty="0"/>
              <a:t>   - Appointment Scheduling: Efficient scheduling system resulting in fewer conflicts and better time management.</a:t>
            </a:r>
          </a:p>
          <a:p>
            <a:r>
              <a:rPr lang="en-US" sz="1600" dirty="0"/>
              <a:t>   - Billing System: Automated and accurate billing processes, minimizing errors and reducing patient wait times.</a:t>
            </a:r>
          </a:p>
          <a:p>
            <a:r>
              <a:rPr lang="en-US" sz="1600" dirty="0"/>
              <a:t>   - Inventory Management: Real-time tracking of medical supplies, ensuring optimal stock levels and preventing shortages.</a:t>
            </a:r>
          </a:p>
          <a:p>
            <a:endParaRPr lang="en-US" sz="1600" dirty="0"/>
          </a:p>
          <a:p>
            <a:r>
              <a:rPr lang="en-US" sz="1600" dirty="0"/>
              <a:t>2. Performance Metrics:</a:t>
            </a:r>
          </a:p>
          <a:p>
            <a:r>
              <a:rPr lang="en-US" sz="1600" dirty="0"/>
              <a:t>   - Increased operational efficiency by 40% compared to the manual system.</a:t>
            </a:r>
          </a:p>
          <a:p>
            <a:r>
              <a:rPr lang="en-US" sz="1600" dirty="0"/>
              <a:t>   - Reduction in average patient wait time by 30%.</a:t>
            </a:r>
          </a:p>
          <a:p>
            <a:r>
              <a:rPr lang="en-US" sz="1600" dirty="0"/>
              <a:t>   - Improved staff productivity, with administrative tasks completed 50% faster.</a:t>
            </a:r>
          </a:p>
          <a:p>
            <a:r>
              <a:rPr lang="en-US" sz="1600" dirty="0"/>
              <a:t>   - Enhanced data security with no reported breaches during the testing period.</a:t>
            </a:r>
          </a:p>
          <a:p>
            <a:endParaRPr lang="en-US" sz="1600" dirty="0"/>
          </a:p>
          <a:p>
            <a:r>
              <a:rPr lang="en-US" sz="1600" dirty="0"/>
              <a:t>3. User Feedback:</a:t>
            </a:r>
          </a:p>
          <a:p>
            <a:r>
              <a:rPr lang="en-US" sz="1600" dirty="0"/>
              <a:t>   - Hospital staff appreciated the intuitive interface and automated workflows.</a:t>
            </a:r>
          </a:p>
          <a:p>
            <a:r>
              <a:rPr lang="en-US" sz="1600" dirty="0"/>
              <a:t>   - Patients reported a more seamless and hassle-free experience.</a:t>
            </a:r>
          </a:p>
          <a:p>
            <a:r>
              <a:rPr lang="en-US" sz="1600" dirty="0"/>
              <a:t>   - Administrators highlighted the benefits of centralized data and real-time reporting.</a:t>
            </a:r>
          </a:p>
          <a:p>
            <a:endParaRPr lang="en-US" sz="1600" dirty="0"/>
          </a:p>
          <a:p>
            <a:r>
              <a:rPr lang="en-US" sz="1600" dirty="0"/>
              <a:t>---</a:t>
            </a:r>
          </a:p>
          <a:p>
            <a:endParaRPr lang="en-US" dirty="0"/>
          </a:p>
        </p:txBody>
      </p:sp>
    </p:spTree>
    <p:extLst>
      <p:ext uri="{BB962C8B-B14F-4D97-AF65-F5344CB8AC3E}">
        <p14:creationId xmlns:p14="http://schemas.microsoft.com/office/powerpoint/2010/main" val="1862886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3D7AFD-F1ED-CF54-13AE-004B9EAA4E83}"/>
              </a:ext>
            </a:extLst>
          </p:cNvPr>
          <p:cNvSpPr txBox="1"/>
          <p:nvPr/>
        </p:nvSpPr>
        <p:spPr>
          <a:xfrm>
            <a:off x="325120" y="457200"/>
            <a:ext cx="11602720" cy="5355312"/>
          </a:xfrm>
          <a:prstGeom prst="rect">
            <a:avLst/>
          </a:prstGeom>
          <a:noFill/>
        </p:spPr>
        <p:txBody>
          <a:bodyPr wrap="square" rtlCol="0">
            <a:spAutoFit/>
          </a:bodyPr>
          <a:lstStyle/>
          <a:p>
            <a:r>
              <a:rPr lang="en-US" dirty="0"/>
              <a:t>Discussions:</a:t>
            </a:r>
          </a:p>
          <a:p>
            <a:endParaRPr lang="en-US" dirty="0"/>
          </a:p>
          <a:p>
            <a:r>
              <a:rPr lang="en-US" dirty="0"/>
              <a:t>1. Impact on Hospital Operations:</a:t>
            </a:r>
          </a:p>
          <a:p>
            <a:r>
              <a:rPr lang="en-US" dirty="0"/>
              <a:t>   - The implementation of the Hospital Management System significantly improved operational efficiency and resource utilization.</a:t>
            </a:r>
          </a:p>
          <a:p>
            <a:r>
              <a:rPr lang="en-US" dirty="0"/>
              <a:t>   - Centralized data management reduced errors, enhanced decision-making, and improved inter-departmental communication.</a:t>
            </a:r>
          </a:p>
          <a:p>
            <a:endParaRPr lang="en-US" dirty="0"/>
          </a:p>
          <a:p>
            <a:r>
              <a:rPr lang="en-US" dirty="0"/>
              <a:t>2. Challenges Faced:</a:t>
            </a:r>
          </a:p>
          <a:p>
            <a:r>
              <a:rPr lang="en-US" dirty="0"/>
              <a:t>   - Initial Learning Curve: Some staff required additional training to adapt to the new system.</a:t>
            </a:r>
          </a:p>
          <a:p>
            <a:r>
              <a:rPr lang="en-US" dirty="0"/>
              <a:t>   - Data Migration: Transferring data from the legacy system to the new HMS was a complex and time-consuming task.</a:t>
            </a:r>
          </a:p>
          <a:p>
            <a:r>
              <a:rPr lang="en-US" dirty="0"/>
              <a:t>   - Cost of Implementation: The initial cost of developing and deploying the system posed financial constraints for smaller facilities.</a:t>
            </a:r>
          </a:p>
          <a:p>
            <a:endParaRPr lang="en-US" dirty="0"/>
          </a:p>
          <a:p>
            <a:r>
              <a:rPr lang="en-US" dirty="0"/>
              <a:t>3. Future Scope:</a:t>
            </a:r>
          </a:p>
          <a:p>
            <a:r>
              <a:rPr lang="en-US" dirty="0"/>
              <a:t>   - Integration of advanced technologies such as Artificial Intelligence for predictive analytics in patient care.</a:t>
            </a:r>
          </a:p>
          <a:p>
            <a:r>
              <a:rPr lang="en-US" dirty="0"/>
              <a:t>   - Addition of telemedicine features for remote consultations and follow-ups.</a:t>
            </a:r>
          </a:p>
          <a:p>
            <a:r>
              <a:rPr lang="en-US" dirty="0"/>
              <a:t>   - Continuous improvements based on feedback and evolving healthcare needs.</a:t>
            </a:r>
          </a:p>
          <a:p>
            <a:endParaRPr lang="en-US" dirty="0"/>
          </a:p>
        </p:txBody>
      </p:sp>
    </p:spTree>
    <p:extLst>
      <p:ext uri="{BB962C8B-B14F-4D97-AF65-F5344CB8AC3E}">
        <p14:creationId xmlns:p14="http://schemas.microsoft.com/office/powerpoint/2010/main" val="628438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4A36B4-1F69-3397-AAEA-DAB1BBA09EBE}"/>
              </a:ext>
            </a:extLst>
          </p:cNvPr>
          <p:cNvSpPr txBox="1"/>
          <p:nvPr/>
        </p:nvSpPr>
        <p:spPr>
          <a:xfrm>
            <a:off x="193040" y="294640"/>
            <a:ext cx="11744960" cy="3970318"/>
          </a:xfrm>
          <a:prstGeom prst="rect">
            <a:avLst/>
          </a:prstGeom>
          <a:noFill/>
        </p:spPr>
        <p:txBody>
          <a:bodyPr wrap="square" rtlCol="0">
            <a:spAutoFit/>
          </a:bodyPr>
          <a:lstStyle/>
          <a:p>
            <a:r>
              <a:rPr lang="en-US" dirty="0">
                <a:solidFill>
                  <a:srgbClr val="7030A0"/>
                </a:solidFill>
              </a:rPr>
              <a:t>CONCLUSION FUTURE WORK REFERENCES</a:t>
            </a:r>
          </a:p>
          <a:p>
            <a:endParaRPr lang="en-US" dirty="0"/>
          </a:p>
          <a:p>
            <a:endParaRPr lang="en-US" dirty="0"/>
          </a:p>
          <a:p>
            <a:r>
              <a:rPr lang="en-US" dirty="0"/>
              <a:t>Conclusion:</a:t>
            </a:r>
          </a:p>
          <a:p>
            <a:r>
              <a:rPr lang="en-US" dirty="0"/>
              <a:t>The implementation of a Hospital Management System (HMS) marks a significant step toward enhancing operational efficiency in healthcare facilities. By automating critical processes such as patient registration, appointment scheduling, billing, and inventory management, the system reduces errors, optimizes resource utilization, and improves the quality of patient care. The successful integration of modern technologies, along with a user-friendly interface, ensures seamless interactions for all stakeholders, including patients, medical staff, and administrators. This project highlights the transformative potential of digital solutions in healthcare, paving the way for smarter, more efficient hospital operations.</a:t>
            </a:r>
          </a:p>
          <a:p>
            <a:endParaRPr lang="en-US" dirty="0"/>
          </a:p>
          <a:p>
            <a:r>
              <a:rPr lang="en-US" dirty="0"/>
              <a:t>---</a:t>
            </a:r>
          </a:p>
          <a:p>
            <a:endParaRPr lang="en-US" dirty="0"/>
          </a:p>
        </p:txBody>
      </p:sp>
    </p:spTree>
    <p:extLst>
      <p:ext uri="{BB962C8B-B14F-4D97-AF65-F5344CB8AC3E}">
        <p14:creationId xmlns:p14="http://schemas.microsoft.com/office/powerpoint/2010/main" val="2868931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C0EA16-687A-C4AA-3291-C6B5C9452B25}"/>
              </a:ext>
            </a:extLst>
          </p:cNvPr>
          <p:cNvSpPr txBox="1"/>
          <p:nvPr/>
        </p:nvSpPr>
        <p:spPr>
          <a:xfrm>
            <a:off x="396240" y="436880"/>
            <a:ext cx="11389360" cy="4524315"/>
          </a:xfrm>
          <a:prstGeom prst="rect">
            <a:avLst/>
          </a:prstGeom>
          <a:noFill/>
        </p:spPr>
        <p:txBody>
          <a:bodyPr wrap="square" rtlCol="0">
            <a:spAutoFit/>
          </a:bodyPr>
          <a:lstStyle/>
          <a:p>
            <a:r>
              <a:rPr lang="en-US"/>
              <a:t>Future Work:</a:t>
            </a:r>
          </a:p>
          <a:p>
            <a:r>
              <a:rPr lang="en-US"/>
              <a:t>While the developed HMS addresses current challenges, there are opportunities for future enhancements:</a:t>
            </a:r>
          </a:p>
          <a:p>
            <a:r>
              <a:rPr lang="en-US"/>
              <a:t>1. Integration of AI and Machine Learning:</a:t>
            </a:r>
          </a:p>
          <a:p>
            <a:r>
              <a:rPr lang="en-US"/>
              <a:t>   - Predictive analytics for patient care and hospital resource planning.</a:t>
            </a:r>
          </a:p>
          <a:p>
            <a:r>
              <a:rPr lang="en-US"/>
              <a:t>   - Chatbot assistance for patient queries and appointment booking.</a:t>
            </a:r>
          </a:p>
          <a:p>
            <a:r>
              <a:rPr lang="en-US"/>
              <a:t>2. Expansion of Telemedicine:</a:t>
            </a:r>
          </a:p>
          <a:p>
            <a:r>
              <a:rPr lang="en-US"/>
              <a:t>   - Support for remote consultations and follow-up care.</a:t>
            </a:r>
          </a:p>
          <a:p>
            <a:r>
              <a:rPr lang="en-US"/>
              <a:t>   - Integration of wearable health devices for real-time monitoring.</a:t>
            </a:r>
          </a:p>
          <a:p>
            <a:r>
              <a:rPr lang="en-US"/>
              <a:t>3. Mobile Application Development:</a:t>
            </a:r>
          </a:p>
          <a:p>
            <a:r>
              <a:rPr lang="en-US"/>
              <a:t>   - Patient-centric mobile apps for scheduling, accessing records, and receiving notifications.</a:t>
            </a:r>
          </a:p>
          <a:p>
            <a:r>
              <a:rPr lang="en-US"/>
              <a:t>4. Interoperability:</a:t>
            </a:r>
          </a:p>
          <a:p>
            <a:r>
              <a:rPr lang="en-US"/>
              <a:t>   - Enable integration with other hospital systems and national health databases for seamless data sharing.</a:t>
            </a:r>
          </a:p>
          <a:p>
            <a:r>
              <a:rPr lang="en-US"/>
              <a:t>5. Data Security Enhancements:</a:t>
            </a:r>
          </a:p>
          <a:p>
            <a:r>
              <a:rPr lang="en-US"/>
              <a:t>   - Continuous updates to ensure compliance with emerging data protection laws and standards.</a:t>
            </a:r>
          </a:p>
          <a:p>
            <a:endParaRPr lang="en-US"/>
          </a:p>
          <a:p>
            <a:r>
              <a:rPr lang="en-US"/>
              <a:t>---</a:t>
            </a:r>
            <a:endParaRPr lang="en-US" dirty="0"/>
          </a:p>
        </p:txBody>
      </p:sp>
    </p:spTree>
    <p:extLst>
      <p:ext uri="{BB962C8B-B14F-4D97-AF65-F5344CB8AC3E}">
        <p14:creationId xmlns:p14="http://schemas.microsoft.com/office/powerpoint/2010/main" val="4143846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B76D25-8E4A-7BF8-5A12-E3B08AC0BC1D}"/>
              </a:ext>
            </a:extLst>
          </p:cNvPr>
          <p:cNvSpPr txBox="1"/>
          <p:nvPr/>
        </p:nvSpPr>
        <p:spPr>
          <a:xfrm>
            <a:off x="162560" y="304800"/>
            <a:ext cx="11694160" cy="2031325"/>
          </a:xfrm>
          <a:prstGeom prst="rect">
            <a:avLst/>
          </a:prstGeom>
          <a:noFill/>
        </p:spPr>
        <p:txBody>
          <a:bodyPr wrap="square" rtlCol="0">
            <a:spAutoFit/>
          </a:bodyPr>
          <a:lstStyle/>
          <a:p>
            <a:r>
              <a:rPr lang="en-US" dirty="0"/>
              <a:t>References:</a:t>
            </a:r>
          </a:p>
          <a:p>
            <a:r>
              <a:rPr lang="en-US" dirty="0"/>
              <a:t>Here’s how you can format your references:</a:t>
            </a:r>
          </a:p>
          <a:p>
            <a:r>
              <a:rPr lang="en-US" dirty="0"/>
              <a:t>1. Author(s). (Year). *Title of the Paper or Book*. Publisher/Conference/Journal. </a:t>
            </a:r>
          </a:p>
          <a:p>
            <a:r>
              <a:rPr lang="en-US" dirty="0"/>
              <a:t>2. Website Title. (Year). *Title of the Article*. Retrieved from [link].</a:t>
            </a:r>
          </a:p>
          <a:p>
            <a:endParaRPr lang="en-US" dirty="0"/>
          </a:p>
          <a:p>
            <a:r>
              <a:rPr lang="en-US" dirty="0"/>
              <a:t>If you’ve referred to specific studies, research articles, or online resources during your project, list them here in standard citation format (e.g., APA, MLA, or IEEE).</a:t>
            </a:r>
          </a:p>
        </p:txBody>
      </p:sp>
    </p:spTree>
    <p:extLst>
      <p:ext uri="{BB962C8B-B14F-4D97-AF65-F5344CB8AC3E}">
        <p14:creationId xmlns:p14="http://schemas.microsoft.com/office/powerpoint/2010/main" val="3807713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D4A96C-7BED-8E29-C92D-6461679A12CA}"/>
              </a:ext>
            </a:extLst>
          </p:cNvPr>
          <p:cNvSpPr txBox="1"/>
          <p:nvPr/>
        </p:nvSpPr>
        <p:spPr>
          <a:xfrm>
            <a:off x="1879600" y="2509520"/>
            <a:ext cx="7813040" cy="1107996"/>
          </a:xfrm>
          <a:prstGeom prst="rect">
            <a:avLst/>
          </a:prstGeom>
          <a:noFill/>
        </p:spPr>
        <p:txBody>
          <a:bodyPr wrap="square" rtlCol="0">
            <a:spAutoFit/>
          </a:bodyPr>
          <a:lstStyle/>
          <a:p>
            <a:r>
              <a:rPr lang="en-US"/>
              <a:t>                                 </a:t>
            </a:r>
            <a:r>
              <a:rPr lang="en-US" sz="6600" dirty="0"/>
              <a:t>THANK YOU </a:t>
            </a:r>
          </a:p>
        </p:txBody>
      </p:sp>
    </p:spTree>
    <p:extLst>
      <p:ext uri="{BB962C8B-B14F-4D97-AF65-F5344CB8AC3E}">
        <p14:creationId xmlns:p14="http://schemas.microsoft.com/office/powerpoint/2010/main" val="3193781195"/>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{E0EBE393-20ED-44E7-8E8F-B9A1C23E0DE7}tf56160789_win32</Template>
  <TotalTime>79</TotalTime>
  <Words>3803</Words>
  <Application>Microsoft Office PowerPoint</Application>
  <PresentationFormat>Widescreen</PresentationFormat>
  <Paragraphs>358</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Bookman Old Style</vt:lpstr>
      <vt:lpstr>Calibri</vt:lpstr>
      <vt:lpstr>Franklin Gothic Book</vt:lpstr>
      <vt:lpstr>Custom</vt:lpstr>
      <vt:lpstr>Hospital management system</vt:lpstr>
      <vt:lpstr>“An ounce of prevention is worth a pound of cure.”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vikram vikram</dc:creator>
  <cp:lastModifiedBy>vikram vikram</cp:lastModifiedBy>
  <cp:revision>3</cp:revision>
  <dcterms:created xsi:type="dcterms:W3CDTF">2025-04-07T02:21:39Z</dcterms:created>
  <dcterms:modified xsi:type="dcterms:W3CDTF">2025-04-23T17:22:05Z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